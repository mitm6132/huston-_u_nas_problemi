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D1944"/>
    <a:srgbClr val="C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Светлый стиль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38B1855-1B75-4FBE-930C-398BA8C253C6}" styleName="Стиль из темы 2 - акцент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220" autoAdjust="0"/>
    <p:restoredTop sz="94660"/>
  </p:normalViewPr>
  <p:slideViewPr>
    <p:cSldViewPr snapToGrid="0">
      <p:cViewPr>
        <p:scale>
          <a:sx n="50" d="100"/>
          <a:sy n="50" d="100"/>
        </p:scale>
        <p:origin x="3269" y="15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1B6647-F5DC-44A3-9736-725B2A100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8843835A-5150-4FF3-85FA-2EE5545168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1A80AB4-923C-4B6B-A219-5432712F29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75B55-F754-4493-BD2F-0B1C87E24D7D}" type="datetimeFigureOut">
              <a:rPr lang="ru-RU" smtClean="0"/>
              <a:t>25.03.2026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3BBD209-637F-4C13-A6C6-BABE4D4396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A189895-2BED-40A1-A53D-20F78189F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CC2A5-3AAE-40ED-85FF-426F8F557ADD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2282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68BC7F4-EBAB-43AF-9D23-093D83D3E7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7D20874-BA4A-4C1B-B7A6-7FFF8B1BFE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1C2A41A-9878-4EC9-923C-DDCC0A2361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75B55-F754-4493-BD2F-0B1C87E24D7D}" type="datetimeFigureOut">
              <a:rPr lang="ru-RU" smtClean="0"/>
              <a:t>25.03.2026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EFF1FF1-1B31-4CD4-ABDF-D36C89C11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BC48598-739D-43FA-9B98-8B36A476F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CC2A5-3AAE-40ED-85FF-426F8F557ADD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826540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4D2E6B4-96A8-4E7B-AC18-1FF6D232EC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8B0FEFC-A80A-4E88-8163-884597CFD9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04F9C3E-0DC2-40FD-B095-60AAC14DC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75B55-F754-4493-BD2F-0B1C87E24D7D}" type="datetimeFigureOut">
              <a:rPr lang="ru-RU" smtClean="0"/>
              <a:t>25.03.2026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7180AA6-537F-4A20-B167-DEAB9A76A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197C365-113D-4CF9-A925-66B927773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CC2A5-3AAE-40ED-85FF-426F8F557ADD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224430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5DE4B7-BEBE-4CEB-86EA-E380C30243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76DFC86-F71E-4925-B366-58C1B959CE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95385E2-5B2F-47E2-ADD1-7522F40477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FCE154E-18F4-4029-8882-8DF3D5D959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75B55-F754-4493-BD2F-0B1C87E24D7D}" type="datetimeFigureOut">
              <a:rPr lang="ru-RU" smtClean="0"/>
              <a:t>25.03.2026</a:t>
            </a:fld>
            <a:endParaRPr lang="ru-RU" dirty="0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150D586-A717-4323-8201-42771FDA5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0C2CEDC-0E8C-4790-96F7-A5BFEDE28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CC2A5-3AAE-40ED-85FF-426F8F557ADD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885863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BADB69A-298E-42D2-ACEE-CEBAA0584F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1C622F7A-219C-4FB4-9CCE-20D232BE1A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3579EC5-E200-497A-B26D-FA5CADA4F8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48BA67CD-E2E6-4C71-82FB-FD20BF63845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A06E3EF9-11F7-408B-91BE-6372F593096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D1809118-F75F-44CC-A290-5800BF407A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75B55-F754-4493-BD2F-0B1C87E24D7D}" type="datetimeFigureOut">
              <a:rPr lang="ru-RU" smtClean="0"/>
              <a:t>25.03.2026</a:t>
            </a:fld>
            <a:endParaRPr lang="ru-RU" dirty="0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5ED89FB6-12FA-40E9-89AD-A453C187E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081BC23-7AAE-4E68-B0BC-E352A831F9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CC2A5-3AAE-40ED-85FF-426F8F557ADD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267927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19E602-94C2-4023-9405-648E8EEEF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DD117D9E-AE54-4C40-B644-E73EF4312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75B55-F754-4493-BD2F-0B1C87E24D7D}" type="datetimeFigureOut">
              <a:rPr lang="ru-RU" smtClean="0"/>
              <a:t>25.03.2026</a:t>
            </a:fld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91454F5E-B1CA-4221-9473-6DA0193D7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8C138E6-8B50-4E53-AE13-2F442CEC8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CC2A5-3AAE-40ED-85FF-426F8F557ADD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61890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A44E3393-D440-4B17-A466-059110D614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75B55-F754-4493-BD2F-0B1C87E24D7D}" type="datetimeFigureOut">
              <a:rPr lang="ru-RU" smtClean="0"/>
              <a:t>25.03.2026</a:t>
            </a:fld>
            <a:endParaRPr lang="ru-RU" dirty="0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A78CAAE5-B754-4A9D-B945-505D974820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FBB3337-F0D8-457E-B232-67BF2DA05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CC2A5-3AAE-40ED-85FF-426F8F557ADD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56056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9DB946-E7D4-4F2C-B7CD-FCE2BDAE9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25EA9D0-4174-44D0-A42B-7BF904C9DC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496CEF8-B2FA-4761-848E-24E4D1F4C7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0178EC8-268B-4330-8EB9-6B5116E1C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75B55-F754-4493-BD2F-0B1C87E24D7D}" type="datetimeFigureOut">
              <a:rPr lang="ru-RU" smtClean="0"/>
              <a:t>25.03.2026</a:t>
            </a:fld>
            <a:endParaRPr lang="ru-RU" dirty="0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B682B42-9918-4F46-AB7A-E5CF98BC5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A135691-3312-4532-8915-AB50FD6D9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CC2A5-3AAE-40ED-85FF-426F8F557ADD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54806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83DF02-6A6A-4005-BA77-0C8FB1A47D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BE137B85-2BAA-4545-86B1-E538C7B318E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59B42B8-1E21-4B4B-9BC4-39F31B7B19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278F6E6-4019-43C3-8152-2EC7E31644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75B55-F754-4493-BD2F-0B1C87E24D7D}" type="datetimeFigureOut">
              <a:rPr lang="ru-RU" smtClean="0"/>
              <a:t>25.03.2026</a:t>
            </a:fld>
            <a:endParaRPr lang="ru-RU" dirty="0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E2E5368-91E9-4848-9EEB-B7DB63ED0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A8C74500-F922-4DC6-A5D3-CC84D23AD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CC2A5-3AAE-40ED-85FF-426F8F557ADD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305352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EA205A-A463-4D41-9171-4671B1432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B428F44-8C85-4E01-B7EB-BE9FB170A0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045361E-F32E-434F-9FFA-576156ED7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75B55-F754-4493-BD2F-0B1C87E24D7D}" type="datetimeFigureOut">
              <a:rPr lang="ru-RU" smtClean="0"/>
              <a:t>25.03.2026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133F7B9-F481-4ECB-92E4-05BA992A9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D744B7C-4A68-4396-9903-F79B6B915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CC2A5-3AAE-40ED-85FF-426F8F557ADD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854529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17DE95F9-E9FA-4C23-949E-ADFEA8E10B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0D5AEFC-2071-47FE-954F-909A83F7D6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0102D4E-5AFD-454A-875F-3772999A2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75B55-F754-4493-BD2F-0B1C87E24D7D}" type="datetimeFigureOut">
              <a:rPr lang="ru-RU" smtClean="0"/>
              <a:t>25.03.2026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C6B2B9E-1FB8-42CD-AAD9-44858BC2E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7B5A9E8-7319-4B74-B4E6-8EC986BCA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0CC2A5-3AAE-40ED-85FF-426F8F557ADD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924935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58009AF-81A4-465B-B464-857AB5BB0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05B1F8-AA4B-41D7-BD2F-DB5E722522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DD42E59-CDDF-4F37-BBA0-69108BA620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C75B55-F754-4493-BD2F-0B1C87E24D7D}" type="datetimeFigureOut">
              <a:rPr lang="ru-RU" smtClean="0"/>
              <a:t>25.03.2026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4E1CF7A-5645-4605-A36B-17FB614563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 dirty="0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1FF1C8B-F63A-44BA-B9FB-01EF983F2C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0CC2A5-3AAE-40ED-85FF-426F8F557ADD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93769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microsoft.com/office/2007/relationships/hdphoto" Target="../media/hdphoto1.wdp"/><Relationship Id="rId12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13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14.png"/><Relationship Id="rId5" Type="http://schemas.openxmlformats.org/officeDocument/2006/relationships/image" Target="../media/image3.png"/><Relationship Id="rId10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6.png"/><Relationship Id="rId1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20.png"/><Relationship Id="rId3" Type="http://schemas.openxmlformats.org/officeDocument/2006/relationships/image" Target="../media/image18.png"/><Relationship Id="rId7" Type="http://schemas.openxmlformats.org/officeDocument/2006/relationships/image" Target="../media/image8.png"/><Relationship Id="rId12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5" Type="http://schemas.openxmlformats.org/officeDocument/2006/relationships/image" Target="../media/image1.png"/><Relationship Id="rId10" Type="http://schemas.openxmlformats.org/officeDocument/2006/relationships/image" Target="../media/image11.png"/><Relationship Id="rId4" Type="http://schemas.openxmlformats.org/officeDocument/2006/relationships/image" Target="../media/image12.png"/><Relationship Id="rId9" Type="http://schemas.openxmlformats.org/officeDocument/2006/relationships/image" Target="../media/image10.png"/><Relationship Id="rId14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4.png"/><Relationship Id="rId3" Type="http://schemas.openxmlformats.org/officeDocument/2006/relationships/image" Target="../media/image17.png"/><Relationship Id="rId7" Type="http://schemas.openxmlformats.org/officeDocument/2006/relationships/image" Target="../media/image15.png"/><Relationship Id="rId12" Type="http://schemas.openxmlformats.org/officeDocument/2006/relationships/image" Target="../media/image2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7.png"/><Relationship Id="rId5" Type="http://schemas.openxmlformats.org/officeDocument/2006/relationships/image" Target="../media/image13.png"/><Relationship Id="rId10" Type="http://schemas.openxmlformats.org/officeDocument/2006/relationships/image" Target="../media/image22.png"/><Relationship Id="rId4" Type="http://schemas.openxmlformats.org/officeDocument/2006/relationships/image" Target="../media/image18.png"/><Relationship Id="rId9" Type="http://schemas.openxmlformats.org/officeDocument/2006/relationships/image" Target="../media/image2.png"/><Relationship Id="rId14" Type="http://schemas.openxmlformats.org/officeDocument/2006/relationships/image" Target="../media/image2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4.png"/><Relationship Id="rId3" Type="http://schemas.openxmlformats.org/officeDocument/2006/relationships/image" Target="../media/image17.png"/><Relationship Id="rId7" Type="http://schemas.openxmlformats.org/officeDocument/2006/relationships/image" Target="../media/image15.png"/><Relationship Id="rId12" Type="http://schemas.openxmlformats.org/officeDocument/2006/relationships/image" Target="../media/image2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7.png"/><Relationship Id="rId5" Type="http://schemas.openxmlformats.org/officeDocument/2006/relationships/image" Target="../media/image13.png"/><Relationship Id="rId10" Type="http://schemas.openxmlformats.org/officeDocument/2006/relationships/image" Target="../media/image22.png"/><Relationship Id="rId4" Type="http://schemas.openxmlformats.org/officeDocument/2006/relationships/image" Target="../media/image18.png"/><Relationship Id="rId9" Type="http://schemas.openxmlformats.org/officeDocument/2006/relationships/image" Target="../media/image2.png"/><Relationship Id="rId14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20.png"/><Relationship Id="rId3" Type="http://schemas.openxmlformats.org/officeDocument/2006/relationships/image" Target="../media/image18.png"/><Relationship Id="rId7" Type="http://schemas.openxmlformats.org/officeDocument/2006/relationships/image" Target="../media/image8.png"/><Relationship Id="rId12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5" Type="http://schemas.openxmlformats.org/officeDocument/2006/relationships/image" Target="../media/image1.png"/><Relationship Id="rId10" Type="http://schemas.openxmlformats.org/officeDocument/2006/relationships/image" Target="../media/image11.png"/><Relationship Id="rId4" Type="http://schemas.openxmlformats.org/officeDocument/2006/relationships/image" Target="../media/image12.png"/><Relationship Id="rId9" Type="http://schemas.openxmlformats.org/officeDocument/2006/relationships/image" Target="../media/image10.png"/><Relationship Id="rId1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13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14.png"/><Relationship Id="rId5" Type="http://schemas.openxmlformats.org/officeDocument/2006/relationships/image" Target="../media/image3.png"/><Relationship Id="rId10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6.png"/><Relationship Id="rId1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20.png"/><Relationship Id="rId3" Type="http://schemas.openxmlformats.org/officeDocument/2006/relationships/image" Target="../media/image18.png"/><Relationship Id="rId7" Type="http://schemas.openxmlformats.org/officeDocument/2006/relationships/image" Target="../media/image8.png"/><Relationship Id="rId12" Type="http://schemas.openxmlformats.org/officeDocument/2006/relationships/image" Target="../media/image19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11" Type="http://schemas.openxmlformats.org/officeDocument/2006/relationships/image" Target="../media/image7.png"/><Relationship Id="rId5" Type="http://schemas.openxmlformats.org/officeDocument/2006/relationships/image" Target="../media/image1.png"/><Relationship Id="rId15" Type="http://schemas.openxmlformats.org/officeDocument/2006/relationships/image" Target="../media/image26.jpg"/><Relationship Id="rId10" Type="http://schemas.openxmlformats.org/officeDocument/2006/relationships/image" Target="../media/image11.png"/><Relationship Id="rId4" Type="http://schemas.openxmlformats.org/officeDocument/2006/relationships/image" Target="../media/image12.png"/><Relationship Id="rId9" Type="http://schemas.openxmlformats.org/officeDocument/2006/relationships/image" Target="../media/image10.png"/><Relationship Id="rId1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4.png"/><Relationship Id="rId3" Type="http://schemas.openxmlformats.org/officeDocument/2006/relationships/image" Target="../media/image17.png"/><Relationship Id="rId7" Type="http://schemas.openxmlformats.org/officeDocument/2006/relationships/image" Target="../media/image15.png"/><Relationship Id="rId12" Type="http://schemas.openxmlformats.org/officeDocument/2006/relationships/image" Target="../media/image2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7.png"/><Relationship Id="rId5" Type="http://schemas.openxmlformats.org/officeDocument/2006/relationships/image" Target="../media/image13.png"/><Relationship Id="rId10" Type="http://schemas.openxmlformats.org/officeDocument/2006/relationships/image" Target="../media/image22.png"/><Relationship Id="rId4" Type="http://schemas.openxmlformats.org/officeDocument/2006/relationships/image" Target="../media/image18.png"/><Relationship Id="rId9" Type="http://schemas.openxmlformats.org/officeDocument/2006/relationships/image" Target="../media/image2.png"/><Relationship Id="rId1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1404E86-15EB-498E-9993-C44ABC6AEC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CB3C5F5-FF0E-46FB-B38E-B7C2166CEC3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-11023"/>
            <a:ext cx="12192000" cy="685800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7975893-6FA9-4FD0-A075-9272B85603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12523" y="5538334"/>
            <a:ext cx="10730400" cy="3905024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A1E975EA-DC4C-43F1-B4A6-6EC336A56F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24" y="6324601"/>
            <a:ext cx="4444498" cy="1273198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75D3479A-09D8-4DAF-B415-C6C672BFEF4E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artisticMarke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1" y="6855"/>
            <a:ext cx="12192000" cy="1434243"/>
          </a:xfrm>
          <a:prstGeom prst="rect">
            <a:avLst/>
          </a:prstGeom>
        </p:spPr>
      </p:pic>
      <p:sp>
        <p:nvSpPr>
          <p:cNvPr id="23" name="Подзаголовок 22">
            <a:extLst>
              <a:ext uri="{FF2B5EF4-FFF2-40B4-BE49-F238E27FC236}">
                <a16:creationId xmlns:a16="http://schemas.microsoft.com/office/drawing/2014/main" id="{7DA22040-9D00-442A-A87D-0920D84D90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623024" y="3199365"/>
            <a:ext cx="533400" cy="459265"/>
          </a:xfrm>
        </p:spPr>
        <p:txBody>
          <a:bodyPr/>
          <a:lstStyle/>
          <a:p>
            <a:endParaRPr lang="ru-RU" dirty="0"/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8BA62E03-42C7-4BF2-869A-75979DBDD4B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2" y="211377"/>
            <a:ext cx="12192000" cy="1142429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7916A025-8702-437E-ADC5-414BC24A931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5400000">
            <a:off x="12254044" y="1054097"/>
            <a:ext cx="4804959" cy="4749800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DE8B97CA-8B9B-450C-876F-EE2B4D4F5E3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031424" y="1826053"/>
            <a:ext cx="7962900" cy="885825"/>
          </a:xfrm>
          <a:prstGeom prst="rect">
            <a:avLst/>
          </a:prstGeom>
        </p:spPr>
      </p:pic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6E328C6B-1266-40A5-9160-3B11C82EBFB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528514" y="2675140"/>
            <a:ext cx="4030877" cy="448411"/>
          </a:xfrm>
          <a:prstGeom prst="rect">
            <a:avLst/>
          </a:prstGeom>
        </p:spPr>
      </p:pic>
      <p:pic>
        <p:nvPicPr>
          <p:cNvPr id="42" name="Рисунок 41">
            <a:extLst>
              <a:ext uri="{FF2B5EF4-FFF2-40B4-BE49-F238E27FC236}">
                <a16:creationId xmlns:a16="http://schemas.microsoft.com/office/drawing/2014/main" id="{1285FA15-A867-4E9E-B96E-80FBAF81F65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7528514" y="3448355"/>
            <a:ext cx="6578600" cy="1836859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D30FCD3D-8888-44F6-B501-18069474503A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7528514" y="4323521"/>
            <a:ext cx="5788870" cy="1173642"/>
          </a:xfrm>
          <a:prstGeom prst="rect">
            <a:avLst/>
          </a:prstGeom>
        </p:spPr>
      </p:pic>
      <p:graphicFrame>
        <p:nvGraphicFramePr>
          <p:cNvPr id="2" name="Таблица 2">
            <a:extLst>
              <a:ext uri="{FF2B5EF4-FFF2-40B4-BE49-F238E27FC236}">
                <a16:creationId xmlns:a16="http://schemas.microsoft.com/office/drawing/2014/main" id="{317289EF-E52C-4763-ACE8-C25F62C5A5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608479"/>
              </p:ext>
            </p:extLst>
          </p:nvPr>
        </p:nvGraphicFramePr>
        <p:xfrm>
          <a:off x="703385" y="1645621"/>
          <a:ext cx="9267090" cy="3796027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282698">
                  <a:extLst>
                    <a:ext uri="{9D8B030D-6E8A-4147-A177-3AD203B41FA5}">
                      <a16:colId xmlns:a16="http://schemas.microsoft.com/office/drawing/2014/main" val="1395701330"/>
                    </a:ext>
                  </a:extLst>
                </a:gridCol>
                <a:gridCol w="3992196">
                  <a:extLst>
                    <a:ext uri="{9D8B030D-6E8A-4147-A177-3AD203B41FA5}">
                      <a16:colId xmlns:a16="http://schemas.microsoft.com/office/drawing/2014/main" val="1351229975"/>
                    </a:ext>
                  </a:extLst>
                </a:gridCol>
                <a:gridCol w="3992196">
                  <a:extLst>
                    <a:ext uri="{9D8B030D-6E8A-4147-A177-3AD203B41FA5}">
                      <a16:colId xmlns:a16="http://schemas.microsoft.com/office/drawing/2014/main" val="2461842655"/>
                    </a:ext>
                  </a:extLst>
                </a:gridCol>
              </a:tblGrid>
              <a:tr h="492097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Роль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Имя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Задачи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5091484"/>
                  </a:ext>
                </a:extLst>
              </a:tr>
              <a:tr h="83505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Капитан команды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DD1944"/>
                          </a:solidFill>
                        </a:rPr>
                        <a:t>Игошин Богдан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DD1944"/>
                          </a:solidFill>
                        </a:rPr>
                        <a:t>Координация, общая архитектура, распределение задач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1286494"/>
                  </a:ext>
                </a:extLst>
              </a:tr>
              <a:tr h="835050"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</a:rPr>
                        <a:t>Инженер-программист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>
                          <a:solidFill>
                            <a:srgbClr val="DD1944"/>
                          </a:solidFill>
                        </a:rPr>
                        <a:t>Бессалов</a:t>
                      </a:r>
                      <a:r>
                        <a:rPr lang="ru-RU" dirty="0">
                          <a:solidFill>
                            <a:srgbClr val="DD1944"/>
                          </a:solidFill>
                        </a:rPr>
                        <a:t> Николай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>
                          <a:solidFill>
                            <a:srgbClr val="DD1944"/>
                          </a:solidFill>
                        </a:rPr>
                        <a:t>Компьютерное зрение, интеграция </a:t>
                      </a:r>
                      <a:r>
                        <a:rPr lang="en-US" dirty="0" err="1">
                          <a:solidFill>
                            <a:srgbClr val="DD1944"/>
                          </a:solidFill>
                        </a:rPr>
                        <a:t>TFLite</a:t>
                      </a:r>
                      <a:r>
                        <a:rPr lang="en-US" dirty="0">
                          <a:solidFill>
                            <a:srgbClr val="DD1944"/>
                          </a:solidFill>
                        </a:rPr>
                        <a:t>-</a:t>
                      </a:r>
                      <a:r>
                        <a:rPr lang="ru-RU" dirty="0">
                          <a:solidFill>
                            <a:srgbClr val="DD1944"/>
                          </a:solidFill>
                        </a:rPr>
                        <a:t>модели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1223726"/>
                  </a:ext>
                </a:extLst>
              </a:tr>
              <a:tr h="835050">
                <a:tc>
                  <a:txBody>
                    <a:bodyPr/>
                    <a:lstStyle/>
                    <a:p>
                      <a:r>
                        <a:rPr lang="ru-RU" sz="1800" b="1" kern="120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effectLst/>
                        </a:rPr>
                        <a:t>Инженер-программист</a:t>
                      </a:r>
                      <a:endParaRPr lang="ru-RU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kern="1200" dirty="0" err="1">
                          <a:solidFill>
                            <a:srgbClr val="DD1944"/>
                          </a:solidFill>
                          <a:effectLst/>
                        </a:rPr>
                        <a:t>Ташу</a:t>
                      </a:r>
                      <a:r>
                        <a:rPr lang="ru-RU" sz="1800" b="0" kern="1200" dirty="0">
                          <a:solidFill>
                            <a:srgbClr val="DD1944"/>
                          </a:solidFill>
                          <a:effectLst/>
                        </a:rPr>
                        <a:t> Ростислав</a:t>
                      </a:r>
                      <a:endParaRPr lang="ru-RU" dirty="0">
                        <a:solidFill>
                          <a:srgbClr val="DD1944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kern="1200" dirty="0">
                          <a:solidFill>
                            <a:srgbClr val="DD1944"/>
                          </a:solidFill>
                          <a:effectLst/>
                        </a:rPr>
                        <a:t>Алгоритмы управления, </a:t>
                      </a:r>
                      <a:r>
                        <a:rPr lang="en-US" sz="1800" b="0" kern="1200" dirty="0">
                          <a:solidFill>
                            <a:srgbClr val="DD1944"/>
                          </a:solidFill>
                          <a:effectLst/>
                        </a:rPr>
                        <a:t>ROS-</a:t>
                      </a:r>
                      <a:r>
                        <a:rPr lang="ru-RU" sz="1800" b="0" kern="1200" dirty="0">
                          <a:solidFill>
                            <a:srgbClr val="DD1944"/>
                          </a:solidFill>
                          <a:effectLst/>
                        </a:rPr>
                        <a:t>узлы, отладка</a:t>
                      </a:r>
                      <a:endParaRPr lang="ru-RU" dirty="0">
                        <a:solidFill>
                          <a:srgbClr val="DD1944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80425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ru-RU" sz="1800" b="1" kern="1200" dirty="0">
                          <a:solidFill>
                            <a:schemeClr val="accent4">
                              <a:lumMod val="40000"/>
                              <a:lumOff val="60000"/>
                            </a:schemeClr>
                          </a:solidFill>
                          <a:effectLst/>
                        </a:rPr>
                        <a:t>Инженер-техник</a:t>
                      </a:r>
                      <a:endParaRPr lang="ru-RU" dirty="0">
                        <a:solidFill>
                          <a:schemeClr val="accent4">
                            <a:lumMod val="40000"/>
                            <a:lumOff val="6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kern="1200" dirty="0" err="1">
                          <a:solidFill>
                            <a:srgbClr val="DD1944"/>
                          </a:solidFill>
                          <a:effectLst/>
                        </a:rPr>
                        <a:t>Пикинер</a:t>
                      </a:r>
                      <a:r>
                        <a:rPr lang="ru-RU" sz="1800" b="0" kern="1200" dirty="0">
                          <a:solidFill>
                            <a:srgbClr val="DD1944"/>
                          </a:solidFill>
                          <a:effectLst/>
                        </a:rPr>
                        <a:t> Илья</a:t>
                      </a:r>
                      <a:endParaRPr lang="ru-RU" dirty="0">
                        <a:solidFill>
                          <a:srgbClr val="DD1944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800" b="0" kern="1200" dirty="0">
                          <a:solidFill>
                            <a:srgbClr val="DD1944"/>
                          </a:solidFill>
                          <a:effectLst/>
                        </a:rPr>
                        <a:t>Аппаратная часть, сборка</a:t>
                      </a:r>
                      <a:endParaRPr lang="ru-RU" dirty="0">
                        <a:solidFill>
                          <a:srgbClr val="DD1944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3781618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CE10F9E-B41B-49BD-BA11-0832A91E2EA0}"/>
              </a:ext>
            </a:extLst>
          </p:cNvPr>
          <p:cNvSpPr txBox="1"/>
          <p:nvPr/>
        </p:nvSpPr>
        <p:spPr>
          <a:xfrm>
            <a:off x="8212015" y="6324601"/>
            <a:ext cx="34817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accent4">
                    <a:lumMod val="40000"/>
                    <a:lumOff val="60000"/>
                  </a:schemeClr>
                </a:solidFill>
                <a:latin typeface="Comic Sans MS" panose="030F0702030302020204" pitchFamily="66" charset="0"/>
              </a:rPr>
              <a:t>ГБПОУ КК ККЭП</a:t>
            </a:r>
          </a:p>
        </p:txBody>
      </p:sp>
    </p:spTree>
    <p:extLst>
      <p:ext uri="{BB962C8B-B14F-4D97-AF65-F5344CB8AC3E}">
        <p14:creationId xmlns:p14="http://schemas.microsoft.com/office/powerpoint/2010/main" val="22323597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5090DB3B-59FB-49E8-B0B9-31D547B5F9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00" y="0"/>
            <a:ext cx="12192000" cy="7895771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1404E86-15EB-498E-9993-C44ABC6AEC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CB3C5F5-FF0E-46FB-B38E-B7C2166CEC3E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7975893-6FA9-4FD0-A075-9272B85603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623024" y="6858000"/>
            <a:ext cx="10730400" cy="3905024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A1E975EA-DC4C-43F1-B4A6-6EC336A56F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7683501"/>
            <a:ext cx="4444498" cy="1273198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75D3479A-09D8-4DAF-B415-C6C672BFEF4E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artisticMarke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63278" y="-1778515"/>
            <a:ext cx="12192000" cy="1434243"/>
          </a:xfrm>
          <a:prstGeom prst="rect">
            <a:avLst/>
          </a:prstGeom>
        </p:spPr>
      </p:pic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8BA62E03-42C7-4BF2-869A-75979DBDD4B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-1511066"/>
            <a:ext cx="12192000" cy="1142429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D500949D-80AB-4BE8-9484-4E2AC27653F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035352" y="1851171"/>
            <a:ext cx="8458200" cy="904875"/>
          </a:xfrm>
          <a:prstGeom prst="rect">
            <a:avLst/>
          </a:prstGeom>
        </p:spPr>
      </p:pic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48F88549-C1A4-415C-93BA-7B3F10B3912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816221" y="2756046"/>
            <a:ext cx="4252180" cy="451134"/>
          </a:xfrm>
          <a:prstGeom prst="rect">
            <a:avLst/>
          </a:prstGeom>
        </p:spPr>
      </p:pic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C7A96178-3067-4BE7-BC3B-FACB90F2A9F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133304" y="3444233"/>
            <a:ext cx="5128932" cy="1166655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8A430E93-F5FF-427E-9446-1D92D53C318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133304" y="4452485"/>
            <a:ext cx="6096000" cy="976909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B04B754-14B3-4798-A006-1928D589586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789520" y="1054100"/>
            <a:ext cx="4804959" cy="4749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E1B1D6C-E55D-4738-ADAE-6DC40C6289EF}"/>
              </a:ext>
            </a:extLst>
          </p:cNvPr>
          <p:cNvSpPr txBox="1"/>
          <p:nvPr/>
        </p:nvSpPr>
        <p:spPr>
          <a:xfrm>
            <a:off x="205977" y="-33642"/>
            <a:ext cx="8477041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000" dirty="0">
                <a:solidFill>
                  <a:schemeClr val="accent4">
                    <a:lumMod val="40000"/>
                    <a:lumOff val="60000"/>
                  </a:schemeClr>
                </a:solidFill>
                <a:latin typeface="Comic Sans MS" panose="030F0702030302020204" pitchFamily="66" charset="0"/>
              </a:rPr>
              <a:t>Задача первого дня</a:t>
            </a:r>
          </a:p>
          <a:p>
            <a:r>
              <a:rPr lang="ru-RU" sz="3200" dirty="0">
                <a:solidFill>
                  <a:srgbClr val="DD1944"/>
                </a:solidFill>
                <a:latin typeface="Comic Sans MS" panose="030F0702030302020204" pitchFamily="66" charset="0"/>
              </a:rPr>
              <a:t>Автономное перемещение по полю с одновременным распознаванием людей и деревьев. Требовалась точная навигация по </a:t>
            </a:r>
            <a:r>
              <a:rPr lang="ru-RU" sz="32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omic Sans MS" panose="030F0702030302020204" pitchFamily="66" charset="0"/>
              </a:rPr>
              <a:t>ArUco</a:t>
            </a:r>
            <a:r>
              <a:rPr lang="ru-RU" sz="3200" dirty="0">
                <a:solidFill>
                  <a:srgbClr val="DD1944"/>
                </a:solidFill>
                <a:latin typeface="Comic Sans MS" panose="030F0702030302020204" pitchFamily="66" charset="0"/>
              </a:rPr>
              <a:t>-карте и надёжная синхронизация движений.</a:t>
            </a:r>
          </a:p>
        </p:txBody>
      </p:sp>
    </p:spTree>
    <p:extLst>
      <p:ext uri="{BB962C8B-B14F-4D97-AF65-F5344CB8AC3E}">
        <p14:creationId xmlns:p14="http://schemas.microsoft.com/office/powerpoint/2010/main" val="12064927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38B32F35-C663-40A0-BDD1-02CE3FEDB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858000"/>
            <a:ext cx="12192000" cy="7023177"/>
          </a:xfrm>
          <a:prstGeom prst="rect">
            <a:avLst/>
          </a:prstGeom>
        </p:spPr>
      </p:pic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A28CE8DC-4703-4717-A3C0-DA468FE794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1F91F75-53B8-417E-8486-8A104F3742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7895771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1404E86-15EB-498E-9993-C44ABC6AEC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2192000" y="0"/>
            <a:ext cx="12192000" cy="6858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CB3C5F5-FF0E-46FB-B38E-B7C2166CEC3E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5BF3C839-3A41-4120-B7BA-026D53A3E7F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9731774" y="2073527"/>
            <a:ext cx="7962900" cy="885825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E7AA590B-A298-4447-A248-590359AF5CA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9234684" y="2922614"/>
            <a:ext cx="4030877" cy="448411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F30091B4-7F63-49AA-950D-6620A72D4B8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9234684" y="3695829"/>
            <a:ext cx="6578600" cy="1836859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F6844D2B-7272-4D61-B815-C36BC253437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9234684" y="4596166"/>
            <a:ext cx="5788870" cy="1173642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B04B754-14B3-4798-A006-1928D589586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0800000">
            <a:off x="-3929850" y="0"/>
            <a:ext cx="6937641" cy="6858000"/>
          </a:xfrm>
          <a:prstGeom prst="rect">
            <a:avLst/>
          </a:prstGeom>
        </p:spPr>
      </p:pic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C4F47AE1-CFB2-4730-8415-42FCB4DCDD25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0" y="6895146"/>
            <a:ext cx="12192000" cy="7020760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34AB09AF-333F-4EC0-BBBB-276C68F438B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290153" y="7772089"/>
            <a:ext cx="12192000" cy="6034562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F833274D-FD0F-4005-93A8-CE203F95164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54071" y="8486357"/>
            <a:ext cx="10037482" cy="2035010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31470382-B36E-4304-8414-47F972035A5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743200" y="7581482"/>
            <a:ext cx="8458200" cy="9048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73D79E0-04EC-4345-9D1A-DD5B663D1601}"/>
              </a:ext>
            </a:extLst>
          </p:cNvPr>
          <p:cNvSpPr txBox="1"/>
          <p:nvPr/>
        </p:nvSpPr>
        <p:spPr>
          <a:xfrm>
            <a:off x="3145839" y="0"/>
            <a:ext cx="9046161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>
                <a:solidFill>
                  <a:schemeClr val="accent4">
                    <a:lumMod val="40000"/>
                    <a:lumOff val="60000"/>
                  </a:schemeClr>
                </a:solidFill>
                <a:latin typeface="Comic Sans MS" panose="030F0702030302020204" pitchFamily="66" charset="0"/>
              </a:rPr>
              <a:t>Решение</a:t>
            </a:r>
          </a:p>
          <a:p>
            <a:r>
              <a:rPr lang="ru-RU" sz="2400" dirty="0">
                <a:solidFill>
                  <a:srgbClr val="DD1944"/>
                </a:solidFill>
                <a:latin typeface="Comic Sans MS" panose="030F0702030302020204" pitchFamily="66" charset="0"/>
              </a:rPr>
              <a:t>Обеспечение автономного перемещения дрона по полю, создавая условия для работы детектора. скрипт работает параллельно с узлом компьютерного зрения, подписанным на </a:t>
            </a:r>
            <a:r>
              <a:rPr lang="ru-RU" sz="2400" dirty="0">
                <a:solidFill>
                  <a:schemeClr val="accent1">
                    <a:lumMod val="60000"/>
                    <a:lumOff val="40000"/>
                  </a:schemeClr>
                </a:solidFill>
                <a:latin typeface="Comic Sans MS" panose="030F0702030302020204" pitchFamily="66" charset="0"/>
              </a:rPr>
              <a:t>/</a:t>
            </a:r>
            <a:r>
              <a:rPr lang="ru-RU" sz="24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omic Sans MS" panose="030F0702030302020204" pitchFamily="66" charset="0"/>
              </a:rPr>
              <a:t>vision</a:t>
            </a:r>
            <a:r>
              <a:rPr lang="ru-RU" sz="2400" dirty="0">
                <a:solidFill>
                  <a:schemeClr val="accent1">
                    <a:lumMod val="60000"/>
                    <a:lumOff val="40000"/>
                  </a:schemeClr>
                </a:solidFill>
                <a:latin typeface="Comic Sans MS" panose="030F0702030302020204" pitchFamily="66" charset="0"/>
              </a:rPr>
              <a:t>/</a:t>
            </a:r>
            <a:r>
              <a:rPr lang="ru-RU" sz="24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omic Sans MS" panose="030F0702030302020204" pitchFamily="66" charset="0"/>
              </a:rPr>
              <a:t>detections</a:t>
            </a:r>
            <a:r>
              <a:rPr lang="ru-RU" sz="2400" dirty="0">
                <a:solidFill>
                  <a:srgbClr val="DD1944"/>
                </a:solidFill>
                <a:latin typeface="Comic Sans MS" panose="030F0702030302020204" pitchFamily="66" charset="0"/>
              </a:rPr>
              <a:t>.</a:t>
            </a:r>
          </a:p>
          <a:p>
            <a:endParaRPr lang="ru-RU" sz="2400" dirty="0">
              <a:solidFill>
                <a:srgbClr val="DD1944"/>
              </a:solidFill>
              <a:latin typeface="Comic Sans MS" panose="030F0702030302020204" pitchFamily="66" charset="0"/>
            </a:endParaRPr>
          </a:p>
          <a:p>
            <a:endParaRPr lang="ru-RU" sz="2400" dirty="0">
              <a:solidFill>
                <a:srgbClr val="DD1944"/>
              </a:solidFill>
              <a:latin typeface="Comic Sans MS" panose="030F0702030302020204" pitchFamily="66" charset="0"/>
            </a:endParaRPr>
          </a:p>
          <a:p>
            <a:endParaRPr lang="ru-RU" sz="2400" dirty="0">
              <a:solidFill>
                <a:srgbClr val="DD1944"/>
              </a:solidFill>
              <a:latin typeface="Comic Sans MS" panose="030F0702030302020204" pitchFamily="66" charset="0"/>
            </a:endParaRPr>
          </a:p>
          <a:p>
            <a:r>
              <a:rPr lang="ru-RU" sz="3200" dirty="0">
                <a:solidFill>
                  <a:schemeClr val="accent4">
                    <a:lumMod val="40000"/>
                    <a:lumOff val="60000"/>
                  </a:schemeClr>
                </a:solidFill>
                <a:latin typeface="Comic Sans MS" panose="030F0702030302020204" pitchFamily="66" charset="0"/>
              </a:rPr>
              <a:t>Ключевые особенности кода</a:t>
            </a:r>
          </a:p>
          <a:p>
            <a:r>
              <a:rPr lang="ru-RU" sz="2400" dirty="0">
                <a:solidFill>
                  <a:srgbClr val="DD1944"/>
                </a:solidFill>
                <a:latin typeface="Comic Sans MS" panose="030F0702030302020204" pitchFamily="66" charset="0"/>
              </a:rPr>
              <a:t>Функция </a:t>
            </a:r>
            <a:r>
              <a:rPr lang="ru-RU" sz="24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omic Sans MS" panose="030F0702030302020204" pitchFamily="66" charset="0"/>
              </a:rPr>
              <a:t>navigate_wait</a:t>
            </a:r>
            <a:r>
              <a:rPr lang="ru-RU" sz="2400" dirty="0">
                <a:solidFill>
                  <a:srgbClr val="DD1944"/>
                </a:solidFill>
                <a:latin typeface="Comic Sans MS" panose="030F0702030302020204" pitchFamily="66" charset="0"/>
              </a:rPr>
              <a:t> – отправка целевой точки и ожидание входа в допуск. Исключает «слепые» задержки, гарантирует точное позиционирование.</a:t>
            </a:r>
          </a:p>
          <a:p>
            <a:r>
              <a:rPr lang="ru-RU" sz="2400" dirty="0">
                <a:solidFill>
                  <a:srgbClr val="DD1944"/>
                </a:solidFill>
                <a:latin typeface="Comic Sans MS" panose="030F0702030302020204" pitchFamily="66" charset="0"/>
              </a:rPr>
              <a:t>Выбор систем координат – взлёт в </a:t>
            </a:r>
            <a:r>
              <a:rPr lang="ru-RU" sz="24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omic Sans MS" panose="030F0702030302020204" pitchFamily="66" charset="0"/>
              </a:rPr>
              <a:t>body</a:t>
            </a:r>
            <a:r>
              <a:rPr lang="ru-RU" sz="2400" dirty="0">
                <a:solidFill>
                  <a:srgbClr val="DD1944"/>
                </a:solidFill>
                <a:latin typeface="Comic Sans MS" panose="030F0702030302020204" pitchFamily="66" charset="0"/>
              </a:rPr>
              <a:t>, перемещение по полю в </a:t>
            </a:r>
            <a:r>
              <a:rPr lang="ru-RU" sz="2400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omic Sans MS" panose="030F0702030302020204" pitchFamily="66" charset="0"/>
              </a:rPr>
              <a:t>aruco_map</a:t>
            </a:r>
            <a:r>
              <a:rPr lang="ru-RU" sz="2400" dirty="0">
                <a:solidFill>
                  <a:srgbClr val="DD1944"/>
                </a:solidFill>
                <a:latin typeface="Comic Sans MS" panose="030F0702030302020204" pitchFamily="66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505763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BC451CDE-0998-4F28-9731-ED2D624DE9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934201"/>
            <a:ext cx="12192000" cy="7895771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C20A533-4745-4F3A-B982-F0CBDEA4F6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6200"/>
            <a:ext cx="12192000" cy="7023177"/>
          </a:xfrm>
          <a:prstGeom prst="rect">
            <a:avLst/>
          </a:prstGeom>
        </p:spPr>
      </p:pic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675DDEA5-C44D-4ABF-9F2D-FB0F41E5D4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6934200"/>
            <a:ext cx="12192000" cy="685800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630C65C2-74D7-4857-96B4-B63AE03AE0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4666" y="-4979735"/>
            <a:ext cx="8458200" cy="904875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AAEF7C38-1331-4F0D-ABBC-75D6BF5091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45535" y="-4074860"/>
            <a:ext cx="4252180" cy="451134"/>
          </a:xfrm>
          <a:prstGeom prst="rect">
            <a:avLst/>
          </a:prstGeom>
        </p:spPr>
      </p:pic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AD43BBF2-05F8-4261-AD00-D8A758FB4F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62618" y="-3386673"/>
            <a:ext cx="5128932" cy="1166655"/>
          </a:xfrm>
          <a:prstGeom prst="rect">
            <a:avLst/>
          </a:prstGeom>
        </p:spPr>
      </p:pic>
      <p:pic>
        <p:nvPicPr>
          <p:cNvPr id="42" name="Рисунок 41">
            <a:extLst>
              <a:ext uri="{FF2B5EF4-FFF2-40B4-BE49-F238E27FC236}">
                <a16:creationId xmlns:a16="http://schemas.microsoft.com/office/drawing/2014/main" id="{E7175403-FC85-40DD-95FD-D9CACC2F5A8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62618" y="-2378421"/>
            <a:ext cx="6096000" cy="976909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C699E910-0D02-45EF-AC5F-E7CD55FAEBD4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70000"/>
          </a:blip>
          <a:stretch>
            <a:fillRect/>
          </a:stretch>
        </p:blipFill>
        <p:spPr>
          <a:xfrm>
            <a:off x="0" y="11939"/>
            <a:ext cx="12192000" cy="6858000"/>
          </a:xfrm>
          <a:prstGeom prst="rect">
            <a:avLst/>
          </a:prstGeom>
        </p:spPr>
      </p:pic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02A3F781-8FDA-4BF1-991B-D65B1A330AB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12192000" y="-15943"/>
            <a:ext cx="12192000" cy="6858000"/>
          </a:xfrm>
          <a:prstGeom prst="rect">
            <a:avLst/>
          </a:prstGeom>
        </p:spPr>
      </p:pic>
      <p:pic>
        <p:nvPicPr>
          <p:cNvPr id="48" name="Рисунок 47">
            <a:extLst>
              <a:ext uri="{FF2B5EF4-FFF2-40B4-BE49-F238E27FC236}">
                <a16:creationId xmlns:a16="http://schemas.microsoft.com/office/drawing/2014/main" id="{61E465F0-4B03-4E67-B4DE-C66CFFFD4857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70000"/>
          </a:blip>
          <a:stretch>
            <a:fillRect/>
          </a:stretch>
        </p:blipFill>
        <p:spPr>
          <a:xfrm>
            <a:off x="-12192000" y="-15943"/>
            <a:ext cx="12192000" cy="685800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B04B754-14B3-4798-A006-1928D589586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5400000">
            <a:off x="-3929850" y="0"/>
            <a:ext cx="6937641" cy="6858000"/>
          </a:xfrm>
          <a:prstGeom prst="rect">
            <a:avLst/>
          </a:prstGeom>
        </p:spPr>
      </p:pic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587EC775-9F6C-4960-9C9C-65867903E11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-18316882" y="-1958680"/>
            <a:ext cx="18364200" cy="10329863"/>
          </a:xfrm>
          <a:prstGeom prst="rect">
            <a:avLst/>
          </a:prstGeom>
        </p:spPr>
      </p:pic>
      <p:pic>
        <p:nvPicPr>
          <p:cNvPr id="50" name="Рисунок 49">
            <a:extLst>
              <a:ext uri="{FF2B5EF4-FFF2-40B4-BE49-F238E27FC236}">
                <a16:creationId xmlns:a16="http://schemas.microsoft.com/office/drawing/2014/main" id="{54A5A5DE-24D6-43D4-8D64-69C7F9A246B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-11721828" y="2668864"/>
            <a:ext cx="4291588" cy="454802"/>
          </a:xfrm>
          <a:prstGeom prst="rect">
            <a:avLst/>
          </a:prstGeom>
        </p:spPr>
      </p:pic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B285D910-E1BB-4348-83F7-60EF8D5EAF3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-11555905" y="3476762"/>
            <a:ext cx="7231305" cy="192301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169C502-5A13-452C-B3E3-9732FFE90CDB}"/>
              </a:ext>
            </a:extLst>
          </p:cNvPr>
          <p:cNvSpPr txBox="1"/>
          <p:nvPr/>
        </p:nvSpPr>
        <p:spPr>
          <a:xfrm>
            <a:off x="3999053" y="611987"/>
            <a:ext cx="763350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000" b="1" i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Задача второго дня</a:t>
            </a:r>
            <a:br>
              <a:rPr lang="ru-RU" dirty="0"/>
            </a:br>
            <a:r>
              <a:rPr lang="ru-RU" sz="3200" b="0" i="0" dirty="0">
                <a:solidFill>
                  <a:srgbClr val="DD1944"/>
                </a:solidFill>
                <a:effectLst/>
                <a:latin typeface="quote-cjk-patch"/>
              </a:rPr>
              <a:t>Автономный захват и сопровождение одной из трёх фигур человека с использованием </a:t>
            </a:r>
            <a:r>
              <a:rPr lang="ru-RU" sz="3200" b="0" i="0" dirty="0" err="1">
                <a:solidFill>
                  <a:srgbClr val="DD1944"/>
                </a:solidFill>
                <a:effectLst/>
                <a:latin typeface="quote-cjk-patch"/>
              </a:rPr>
              <a:t>нейросетевого</a:t>
            </a:r>
            <a:r>
              <a:rPr lang="ru-RU" sz="3200" b="0" i="0" dirty="0">
                <a:solidFill>
                  <a:srgbClr val="DD1944"/>
                </a:solidFill>
                <a:effectLst/>
                <a:latin typeface="quote-cjk-patch"/>
              </a:rPr>
              <a:t> детектора и фронтального дальномера. Требовалось удержание цели в кадре и заданной дистанции (1.5 м) в течение 120 секунд.</a:t>
            </a:r>
            <a:endParaRPr lang="ru-RU" sz="3200" dirty="0">
              <a:solidFill>
                <a:srgbClr val="DD19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19339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C20A533-4745-4F3A-B982-F0CBDEA4F6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52673" y="0"/>
            <a:ext cx="12192000" cy="7023177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C699E910-0D02-45EF-AC5F-E7CD55FAEBD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12152673" y="88139"/>
            <a:ext cx="12192000" cy="6858000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B0ED788-77E0-42D2-B9E0-24CA4AA7AF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48223" y="2412821"/>
            <a:ext cx="12192000" cy="6034562"/>
          </a:xfrm>
          <a:prstGeom prst="rect">
            <a:avLst/>
          </a:prstGeom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937EED98-C8AC-4848-BCBE-0DC87D977D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20688" y="3147355"/>
            <a:ext cx="10037482" cy="2035010"/>
          </a:xfrm>
          <a:prstGeom prst="rect">
            <a:avLst/>
          </a:prstGeom>
        </p:spPr>
      </p:pic>
      <p:pic>
        <p:nvPicPr>
          <p:cNvPr id="46" name="Рисунок 45">
            <a:extLst>
              <a:ext uri="{FF2B5EF4-FFF2-40B4-BE49-F238E27FC236}">
                <a16:creationId xmlns:a16="http://schemas.microsoft.com/office/drawing/2014/main" id="{41CAC764-2DDA-4EB2-A637-BBCA57C5E7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101270" y="2222214"/>
            <a:ext cx="8458200" cy="90487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F239B2D-E696-49F5-BF2E-2615FFCBB5E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5D2FED06-7FFA-4210-A261-A62DE84A0A2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113262" y="11101"/>
            <a:ext cx="12192000" cy="685800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B04B754-14B3-4798-A006-1928D589586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6200000">
            <a:off x="9746183" y="1140926"/>
            <a:ext cx="4796386" cy="474132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81DA72F-50E9-4D7C-A1C3-7C44D233AA8C}"/>
              </a:ext>
            </a:extLst>
          </p:cNvPr>
          <p:cNvSpPr txBox="1"/>
          <p:nvPr/>
        </p:nvSpPr>
        <p:spPr>
          <a:xfrm>
            <a:off x="750380" y="1843950"/>
            <a:ext cx="848424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ru-RU" sz="3200" b="1" i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Comic Sans MS" panose="030F0702030302020204" pitchFamily="66" charset="0"/>
              </a:rPr>
              <a:t>Ключевые особенности</a:t>
            </a:r>
            <a:endParaRPr lang="ru-RU" sz="3200" b="0" i="0" dirty="0">
              <a:solidFill>
                <a:schemeClr val="accent4">
                  <a:lumMod val="40000"/>
                  <a:lumOff val="60000"/>
                </a:schemeClr>
              </a:solidFill>
              <a:effectLst/>
              <a:latin typeface="Comic Sans MS" panose="030F0702030302020204" pitchFamily="66" charset="0"/>
            </a:endParaRPr>
          </a:p>
          <a:p>
            <a:pPr algn="l"/>
            <a:r>
              <a:rPr lang="ru-RU" sz="2400" b="1" i="0" dirty="0">
                <a:solidFill>
                  <a:srgbClr val="DD1944"/>
                </a:solidFill>
                <a:effectLst/>
                <a:latin typeface="Comic Sans MS" panose="030F0702030302020204" pitchFamily="66" charset="0"/>
              </a:rPr>
              <a:t>Без </a:t>
            </a:r>
            <a:r>
              <a:rPr lang="ru-RU" sz="2400" b="1" i="0" dirty="0" err="1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omic Sans MS" panose="030F0702030302020204" pitchFamily="66" charset="0"/>
              </a:rPr>
              <a:t>ArUco</a:t>
            </a:r>
            <a:r>
              <a:rPr lang="ru-RU" sz="2400" b="1" i="0" dirty="0">
                <a:solidFill>
                  <a:srgbClr val="DD1944"/>
                </a:solidFill>
                <a:effectLst/>
                <a:latin typeface="Comic Sans MS" panose="030F0702030302020204" pitchFamily="66" charset="0"/>
              </a:rPr>
              <a:t>-навигации</a:t>
            </a:r>
            <a:r>
              <a:rPr lang="ru-RU" sz="2400" b="0" i="0" dirty="0">
                <a:solidFill>
                  <a:srgbClr val="DD1944"/>
                </a:solidFill>
                <a:effectLst/>
                <a:latin typeface="Comic Sans MS" panose="030F0702030302020204" pitchFamily="66" charset="0"/>
              </a:rPr>
              <a:t> – полёт полностью управляется по данным детектора и дальномера, что соответствует ТЗ дня 2.</a:t>
            </a:r>
          </a:p>
          <a:p>
            <a:pPr algn="l"/>
            <a:r>
              <a:rPr lang="ru-RU" sz="2400" b="1" i="0" dirty="0">
                <a:solidFill>
                  <a:srgbClr val="DD1944"/>
                </a:solidFill>
                <a:effectLst/>
                <a:latin typeface="Comic Sans MS" panose="030F0702030302020204" pitchFamily="66" charset="0"/>
              </a:rPr>
              <a:t>Отказоустойчивость</a:t>
            </a:r>
            <a:r>
              <a:rPr lang="ru-RU" sz="2400" b="0" i="0" dirty="0">
                <a:solidFill>
                  <a:srgbClr val="DD1944"/>
                </a:solidFill>
                <a:effectLst/>
                <a:latin typeface="Comic Sans MS" panose="030F0702030302020204" pitchFamily="66" charset="0"/>
              </a:rPr>
              <a:t> – при потере цели предусмотрена пауза (1.5 с) для возможного восстановления, после чего автоматический переход в поиск.</a:t>
            </a:r>
          </a:p>
          <a:p>
            <a:pPr algn="l"/>
            <a:r>
              <a:rPr lang="ru-RU" sz="2400" b="1" i="0" dirty="0">
                <a:solidFill>
                  <a:srgbClr val="DD1944"/>
                </a:solidFill>
                <a:effectLst/>
                <a:latin typeface="Comic Sans MS" panose="030F0702030302020204" pitchFamily="66" charset="0"/>
              </a:rPr>
              <a:t>Ограничение частоты команд</a:t>
            </a:r>
            <a:r>
              <a:rPr lang="ru-RU" sz="2400" b="0" i="0" dirty="0">
                <a:solidFill>
                  <a:srgbClr val="DD1944"/>
                </a:solidFill>
                <a:effectLst/>
                <a:latin typeface="Comic Sans MS" panose="030F0702030302020204" pitchFamily="66" charset="0"/>
              </a:rPr>
              <a:t> (интервал 0.2 с) предотвращает перегрузку автопилота.</a:t>
            </a:r>
          </a:p>
        </p:txBody>
      </p:sp>
    </p:spTree>
    <p:extLst>
      <p:ext uri="{BB962C8B-B14F-4D97-AF65-F5344CB8AC3E}">
        <p14:creationId xmlns:p14="http://schemas.microsoft.com/office/powerpoint/2010/main" val="12440918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BC451CDE-0998-4F28-9731-ED2D624DE9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934201"/>
            <a:ext cx="12192000" cy="7895771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C20A533-4745-4F3A-B982-F0CBDEA4F6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6200"/>
            <a:ext cx="12192000" cy="7023177"/>
          </a:xfrm>
          <a:prstGeom prst="rect">
            <a:avLst/>
          </a:prstGeom>
        </p:spPr>
      </p:pic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675DDEA5-C44D-4ABF-9F2D-FB0F41E5D4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6934200"/>
            <a:ext cx="12192000" cy="685800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630C65C2-74D7-4857-96B4-B63AE03AE0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4666" y="-4979735"/>
            <a:ext cx="8458200" cy="904875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AAEF7C38-1331-4F0D-ABBC-75D6BF5091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45535" y="-4074860"/>
            <a:ext cx="4252180" cy="451134"/>
          </a:xfrm>
          <a:prstGeom prst="rect">
            <a:avLst/>
          </a:prstGeom>
        </p:spPr>
      </p:pic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AD43BBF2-05F8-4261-AD00-D8A758FB4F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62618" y="-3386673"/>
            <a:ext cx="5128932" cy="1166655"/>
          </a:xfrm>
          <a:prstGeom prst="rect">
            <a:avLst/>
          </a:prstGeom>
        </p:spPr>
      </p:pic>
      <p:pic>
        <p:nvPicPr>
          <p:cNvPr id="42" name="Рисунок 41">
            <a:extLst>
              <a:ext uri="{FF2B5EF4-FFF2-40B4-BE49-F238E27FC236}">
                <a16:creationId xmlns:a16="http://schemas.microsoft.com/office/drawing/2014/main" id="{E7175403-FC85-40DD-95FD-D9CACC2F5A8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62618" y="-2378421"/>
            <a:ext cx="6096000" cy="976909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C699E910-0D02-45EF-AC5F-E7CD55FAEBD4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70000"/>
          </a:blip>
          <a:stretch>
            <a:fillRect/>
          </a:stretch>
        </p:blipFill>
        <p:spPr>
          <a:xfrm>
            <a:off x="0" y="11939"/>
            <a:ext cx="12192000" cy="6858000"/>
          </a:xfrm>
          <a:prstGeom prst="rect">
            <a:avLst/>
          </a:prstGeom>
        </p:spPr>
      </p:pic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02A3F781-8FDA-4BF1-991B-D65B1A330AB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12192000" y="-15943"/>
            <a:ext cx="12192000" cy="6858000"/>
          </a:xfrm>
          <a:prstGeom prst="rect">
            <a:avLst/>
          </a:prstGeom>
        </p:spPr>
      </p:pic>
      <p:pic>
        <p:nvPicPr>
          <p:cNvPr id="48" name="Рисунок 47">
            <a:extLst>
              <a:ext uri="{FF2B5EF4-FFF2-40B4-BE49-F238E27FC236}">
                <a16:creationId xmlns:a16="http://schemas.microsoft.com/office/drawing/2014/main" id="{61E465F0-4B03-4E67-B4DE-C66CFFFD4857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70000"/>
          </a:blip>
          <a:stretch>
            <a:fillRect/>
          </a:stretch>
        </p:blipFill>
        <p:spPr>
          <a:xfrm>
            <a:off x="-12192000" y="-15943"/>
            <a:ext cx="12192000" cy="685800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B04B754-14B3-4798-A006-1928D589586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5400000">
            <a:off x="-3929850" y="0"/>
            <a:ext cx="6937641" cy="6858000"/>
          </a:xfrm>
          <a:prstGeom prst="rect">
            <a:avLst/>
          </a:prstGeom>
        </p:spPr>
      </p:pic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587EC775-9F6C-4960-9C9C-65867903E11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-18316882" y="-1958680"/>
            <a:ext cx="18364200" cy="10329863"/>
          </a:xfrm>
          <a:prstGeom prst="rect">
            <a:avLst/>
          </a:prstGeom>
        </p:spPr>
      </p:pic>
      <p:pic>
        <p:nvPicPr>
          <p:cNvPr id="50" name="Рисунок 49">
            <a:extLst>
              <a:ext uri="{FF2B5EF4-FFF2-40B4-BE49-F238E27FC236}">
                <a16:creationId xmlns:a16="http://schemas.microsoft.com/office/drawing/2014/main" id="{54A5A5DE-24D6-43D4-8D64-69C7F9A246B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-11721828" y="2668864"/>
            <a:ext cx="4291588" cy="454802"/>
          </a:xfrm>
          <a:prstGeom prst="rect">
            <a:avLst/>
          </a:prstGeom>
        </p:spPr>
      </p:pic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B285D910-E1BB-4348-83F7-60EF8D5EAF3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-11555905" y="3476762"/>
            <a:ext cx="7231305" cy="192301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169C502-5A13-452C-B3E3-9732FFE90CDB}"/>
              </a:ext>
            </a:extLst>
          </p:cNvPr>
          <p:cNvSpPr txBox="1"/>
          <p:nvPr/>
        </p:nvSpPr>
        <p:spPr>
          <a:xfrm>
            <a:off x="3636438" y="399843"/>
            <a:ext cx="8186428" cy="5447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000" b="1" i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Comic Sans MS" panose="030F0702030302020204" pitchFamily="66" charset="0"/>
              </a:rPr>
              <a:t>Задача третьего дня</a:t>
            </a:r>
            <a:br>
              <a:rPr lang="ru-RU" dirty="0"/>
            </a:br>
            <a:r>
              <a:rPr lang="ru-RU" sz="3200" b="0" i="0" dirty="0">
                <a:solidFill>
                  <a:srgbClr val="DD1944"/>
                </a:solidFill>
                <a:effectLst/>
                <a:latin typeface="Comic Sans MS" panose="030F0702030302020204" pitchFamily="66" charset="0"/>
              </a:rPr>
              <a:t>Финальная интеграция программного модуля с разработанной в инженерном модуле конструкцией дрона. Демонстрация автономного сопровождения выбранной фигуры человека с упрощённой, но надёжной логикой, совместимой с ограниченными вычислительными ресурсами бортового компьютера.</a:t>
            </a:r>
            <a:endParaRPr lang="ru-RU" sz="3200" dirty="0">
              <a:solidFill>
                <a:srgbClr val="DD1944"/>
              </a:solidFill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45385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38B32F35-C663-40A0-BDD1-02CE3FEDB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858000"/>
            <a:ext cx="12192000" cy="7023177"/>
          </a:xfrm>
          <a:prstGeom prst="rect">
            <a:avLst/>
          </a:prstGeom>
        </p:spPr>
      </p:pic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A28CE8DC-4703-4717-A3C0-DA468FE794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1F91F75-53B8-417E-8486-8A104F3742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7895771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1404E86-15EB-498E-9993-C44ABC6AEC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2192000" y="0"/>
            <a:ext cx="12192000" cy="6858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CB3C5F5-FF0E-46FB-B38E-B7C2166CEC3E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5BF3C839-3A41-4120-B7BA-026D53A3E7F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9731774" y="2073527"/>
            <a:ext cx="7962900" cy="885825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E7AA590B-A298-4447-A248-590359AF5CA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9234684" y="2922614"/>
            <a:ext cx="4030877" cy="448411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F30091B4-7F63-49AA-950D-6620A72D4B8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9234684" y="3695829"/>
            <a:ext cx="6578600" cy="1836859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F6844D2B-7272-4D61-B815-C36BC253437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9234684" y="4596166"/>
            <a:ext cx="5788870" cy="1173642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B04B754-14B3-4798-A006-1928D589586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0800000">
            <a:off x="-3929850" y="0"/>
            <a:ext cx="6937641" cy="6858000"/>
          </a:xfrm>
          <a:prstGeom prst="rect">
            <a:avLst/>
          </a:prstGeom>
        </p:spPr>
      </p:pic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C4F47AE1-CFB2-4730-8415-42FCB4DCDD25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0" y="6895146"/>
            <a:ext cx="12192000" cy="7020760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34AB09AF-333F-4EC0-BBBB-276C68F438B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290153" y="7772089"/>
            <a:ext cx="12192000" cy="6034562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F833274D-FD0F-4005-93A8-CE203F95164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54071" y="8486357"/>
            <a:ext cx="10037482" cy="2035010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31470382-B36E-4304-8414-47F972035A5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743200" y="7581482"/>
            <a:ext cx="8458200" cy="9048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73D79E0-04EC-4345-9D1A-DD5B663D1601}"/>
              </a:ext>
            </a:extLst>
          </p:cNvPr>
          <p:cNvSpPr txBox="1"/>
          <p:nvPr/>
        </p:nvSpPr>
        <p:spPr>
          <a:xfrm>
            <a:off x="3145839" y="0"/>
            <a:ext cx="9046161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>
                <a:solidFill>
                  <a:schemeClr val="accent4">
                    <a:lumMod val="40000"/>
                    <a:lumOff val="60000"/>
                  </a:schemeClr>
                </a:solidFill>
                <a:latin typeface="Comic Sans MS" panose="030F0702030302020204" pitchFamily="66" charset="0"/>
              </a:rPr>
              <a:t>Ключевые особенности</a:t>
            </a:r>
          </a:p>
          <a:p>
            <a:r>
              <a:rPr lang="ru-RU" sz="2400" dirty="0">
                <a:solidFill>
                  <a:srgbClr val="DD1944"/>
                </a:solidFill>
                <a:latin typeface="Comic Sans MS" panose="030F0702030302020204" pitchFamily="66" charset="0"/>
              </a:rPr>
              <a:t>Отказ от сложных состояний – код не содержит конечного автомата (</a:t>
            </a:r>
            <a:r>
              <a:rPr lang="ru-RU" sz="2400" dirty="0">
                <a:solidFill>
                  <a:schemeClr val="accent1">
                    <a:lumMod val="60000"/>
                    <a:lumOff val="40000"/>
                  </a:schemeClr>
                </a:solidFill>
                <a:latin typeface="Comic Sans MS" panose="030F0702030302020204" pitchFamily="66" charset="0"/>
              </a:rPr>
              <a:t>SEARCH/TRACK</a:t>
            </a:r>
            <a:r>
              <a:rPr lang="ru-RU" sz="2400" dirty="0">
                <a:solidFill>
                  <a:srgbClr val="DD1944"/>
                </a:solidFill>
                <a:latin typeface="Comic Sans MS" panose="030F0702030302020204" pitchFamily="66" charset="0"/>
              </a:rPr>
              <a:t>), что упрощает отладку и снижает вероятность сбоев в условиях ограниченного времени финальной попытки.</a:t>
            </a:r>
          </a:p>
          <a:p>
            <a:r>
              <a:rPr lang="ru-RU" sz="2400" dirty="0">
                <a:solidFill>
                  <a:srgbClr val="DD1944"/>
                </a:solidFill>
                <a:latin typeface="Comic Sans MS" panose="030F0702030302020204" pitchFamily="66" charset="0"/>
              </a:rPr>
              <a:t>Компактность – скрипт запускается одним файлом, не требует дополнительных конфигураций, что соответствует требованиям быстрой интеграции в итоговую систему.</a:t>
            </a:r>
          </a:p>
          <a:p>
            <a:r>
              <a:rPr lang="ru-RU" sz="2400" dirty="0">
                <a:solidFill>
                  <a:srgbClr val="DD1944"/>
                </a:solidFill>
                <a:latin typeface="Comic Sans MS" panose="030F0702030302020204" pitchFamily="66" charset="0"/>
              </a:rPr>
              <a:t>Устойчивость к потерям детекции – при пропадании цели дрон продолжает медленно вращаться (0.1 рад/с), восстанавливая захват без вмешательства оператора.</a:t>
            </a:r>
          </a:p>
        </p:txBody>
      </p:sp>
    </p:spTree>
    <p:extLst>
      <p:ext uri="{BB962C8B-B14F-4D97-AF65-F5344CB8AC3E}">
        <p14:creationId xmlns:p14="http://schemas.microsoft.com/office/powerpoint/2010/main" val="3329161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5090DB3B-59FB-49E8-B0B9-31D547B5F9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00" y="0"/>
            <a:ext cx="12192000" cy="7895771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1404E86-15EB-498E-9993-C44ABC6AEC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CB3C5F5-FF0E-46FB-B38E-B7C2166CEC3E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D7975893-6FA9-4FD0-A075-9272B85603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623024" y="6858000"/>
            <a:ext cx="10730400" cy="3905024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A1E975EA-DC4C-43F1-B4A6-6EC336A56F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7683501"/>
            <a:ext cx="4444498" cy="1273198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75D3479A-09D8-4DAF-B415-C6C672BFEF4E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artisticMarke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63278" y="-1778515"/>
            <a:ext cx="12192000" cy="1434243"/>
          </a:xfrm>
          <a:prstGeom prst="rect">
            <a:avLst/>
          </a:prstGeom>
        </p:spPr>
      </p:pic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8BA62E03-42C7-4BF2-869A-75979DBDD4B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-1511066"/>
            <a:ext cx="12192000" cy="1142429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D500949D-80AB-4BE8-9484-4E2AC27653F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035352" y="1851171"/>
            <a:ext cx="8458200" cy="904875"/>
          </a:xfrm>
          <a:prstGeom prst="rect">
            <a:avLst/>
          </a:prstGeom>
        </p:spPr>
      </p:pic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48F88549-C1A4-415C-93BA-7B3F10B3912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816221" y="2756046"/>
            <a:ext cx="4252180" cy="451134"/>
          </a:xfrm>
          <a:prstGeom prst="rect">
            <a:avLst/>
          </a:prstGeom>
        </p:spPr>
      </p:pic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C7A96178-3067-4BE7-BC3B-FACB90F2A9F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133304" y="3444233"/>
            <a:ext cx="5128932" cy="1166655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8A430E93-F5FF-427E-9446-1D92D53C318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133304" y="4452485"/>
            <a:ext cx="6096000" cy="976909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B04B754-14B3-4798-A006-1928D589586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789520" y="1054100"/>
            <a:ext cx="4804959" cy="4749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E1B1D6C-E55D-4738-ADAE-6DC40C6289EF}"/>
              </a:ext>
            </a:extLst>
          </p:cNvPr>
          <p:cNvSpPr txBox="1"/>
          <p:nvPr/>
        </p:nvSpPr>
        <p:spPr>
          <a:xfrm>
            <a:off x="1125848" y="974610"/>
            <a:ext cx="8663672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000" dirty="0">
                <a:solidFill>
                  <a:schemeClr val="accent4">
                    <a:lumMod val="40000"/>
                    <a:lumOff val="60000"/>
                  </a:schemeClr>
                </a:solidFill>
                <a:latin typeface="Comic Sans MS" panose="030F0702030302020204" pitchFamily="66" charset="0"/>
              </a:rPr>
              <a:t>Ссылка на репозиторий </a:t>
            </a:r>
            <a:r>
              <a:rPr lang="en-US" sz="6000" dirty="0">
                <a:solidFill>
                  <a:schemeClr val="accent4">
                    <a:lumMod val="40000"/>
                    <a:lumOff val="60000"/>
                  </a:schemeClr>
                </a:solidFill>
                <a:latin typeface="Comic Sans MS" panose="030F0702030302020204" pitchFamily="66" charset="0"/>
              </a:rPr>
              <a:t>Git</a:t>
            </a:r>
          </a:p>
          <a:p>
            <a:r>
              <a:rPr lang="en-US" sz="3200" dirty="0">
                <a:solidFill>
                  <a:srgbClr val="DD1944"/>
                </a:solidFill>
                <a:latin typeface="Comic Sans MS" panose="030F0702030302020204" pitchFamily="66" charset="0"/>
              </a:rPr>
              <a:t>https://github.com/mitm6132/Huston-_u_nas_problemi</a:t>
            </a:r>
            <a:endParaRPr lang="ru-RU" sz="3200" dirty="0">
              <a:solidFill>
                <a:srgbClr val="DD1944"/>
              </a:solidFill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645981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38B32F35-C663-40A0-BDD1-02CE3FEDB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858000"/>
            <a:ext cx="12192000" cy="7023177"/>
          </a:xfrm>
          <a:prstGeom prst="rect">
            <a:avLst/>
          </a:prstGeom>
        </p:spPr>
      </p:pic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A28CE8DC-4703-4717-A3C0-DA468FE794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1F91F75-53B8-417E-8486-8A104F3742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7895771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1404E86-15EB-498E-9993-C44ABC6AEC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2192000" y="0"/>
            <a:ext cx="12192000" cy="6858000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CB3C5F5-FF0E-46FB-B38E-B7C2166CEC3E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5BF3C839-3A41-4120-B7BA-026D53A3E7F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9731774" y="2073527"/>
            <a:ext cx="7962900" cy="885825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E7AA590B-A298-4447-A248-590359AF5CA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9234684" y="2922614"/>
            <a:ext cx="4030877" cy="448411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F30091B4-7F63-49AA-950D-6620A72D4B8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9234684" y="3695829"/>
            <a:ext cx="6578600" cy="1836859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F6844D2B-7272-4D61-B815-C36BC253437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9234684" y="4596166"/>
            <a:ext cx="5788870" cy="1173642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B04B754-14B3-4798-A006-1928D589586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0800000">
            <a:off x="-3929850" y="0"/>
            <a:ext cx="6937641" cy="6858000"/>
          </a:xfrm>
          <a:prstGeom prst="rect">
            <a:avLst/>
          </a:prstGeom>
        </p:spPr>
      </p:pic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C4F47AE1-CFB2-4730-8415-42FCB4DCDD25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0" y="6895146"/>
            <a:ext cx="12192000" cy="7020760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34AB09AF-333F-4EC0-BBBB-276C68F438B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290153" y="7772089"/>
            <a:ext cx="12192000" cy="6034562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F833274D-FD0F-4005-93A8-CE203F95164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54071" y="8486357"/>
            <a:ext cx="10037482" cy="2035010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31470382-B36E-4304-8414-47F972035A5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743200" y="7581482"/>
            <a:ext cx="8458200" cy="9048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73D79E0-04EC-4345-9D1A-DD5B663D1601}"/>
              </a:ext>
            </a:extLst>
          </p:cNvPr>
          <p:cNvSpPr txBox="1"/>
          <p:nvPr/>
        </p:nvSpPr>
        <p:spPr>
          <a:xfrm>
            <a:off x="3145840" y="0"/>
            <a:ext cx="59102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dirty="0">
                <a:solidFill>
                  <a:schemeClr val="accent4">
                    <a:lumMod val="40000"/>
                    <a:lumOff val="60000"/>
                  </a:schemeClr>
                </a:solidFill>
                <a:latin typeface="Comic Sans MS" panose="030F0702030302020204" pitchFamily="66" charset="0"/>
              </a:rPr>
              <a:t>Инструкция по запуску кода</a:t>
            </a:r>
            <a:endParaRPr lang="ru-RU" sz="2400" dirty="0">
              <a:solidFill>
                <a:srgbClr val="DD1944"/>
              </a:solidFill>
              <a:latin typeface="Comic Sans MS" panose="030F0702030302020204" pitchFamily="66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48D0478-EB05-4B68-B1C1-35D6DA96ABC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5839" y="775382"/>
            <a:ext cx="7929143" cy="5284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87488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BC451CDE-0998-4F28-9731-ED2D624DE9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6934201"/>
            <a:ext cx="12192000" cy="7895771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2C20A533-4745-4F3A-B982-F0CBDEA4F6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76200"/>
            <a:ext cx="12192000" cy="7023177"/>
          </a:xfrm>
          <a:prstGeom prst="rect">
            <a:avLst/>
          </a:prstGeom>
        </p:spPr>
      </p:pic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675DDEA5-C44D-4ABF-9F2D-FB0F41E5D4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-6934200"/>
            <a:ext cx="12192000" cy="685800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630C65C2-74D7-4857-96B4-B63AE03AE0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4666" y="-4979735"/>
            <a:ext cx="8458200" cy="904875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AAEF7C38-1331-4F0D-ABBC-75D6BF5091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45535" y="-4074860"/>
            <a:ext cx="4252180" cy="451134"/>
          </a:xfrm>
          <a:prstGeom prst="rect">
            <a:avLst/>
          </a:prstGeom>
        </p:spPr>
      </p:pic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AD43BBF2-05F8-4261-AD00-D8A758FB4F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62618" y="-3386673"/>
            <a:ext cx="5128932" cy="1166655"/>
          </a:xfrm>
          <a:prstGeom prst="rect">
            <a:avLst/>
          </a:prstGeom>
        </p:spPr>
      </p:pic>
      <p:pic>
        <p:nvPicPr>
          <p:cNvPr id="42" name="Рисунок 41">
            <a:extLst>
              <a:ext uri="{FF2B5EF4-FFF2-40B4-BE49-F238E27FC236}">
                <a16:creationId xmlns:a16="http://schemas.microsoft.com/office/drawing/2014/main" id="{E7175403-FC85-40DD-95FD-D9CACC2F5A8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62618" y="-2378421"/>
            <a:ext cx="6096000" cy="976909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C699E910-0D02-45EF-AC5F-E7CD55FAEBD4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70000"/>
          </a:blip>
          <a:stretch>
            <a:fillRect/>
          </a:stretch>
        </p:blipFill>
        <p:spPr>
          <a:xfrm>
            <a:off x="0" y="11939"/>
            <a:ext cx="12192000" cy="6858000"/>
          </a:xfrm>
          <a:prstGeom prst="rect">
            <a:avLst/>
          </a:prstGeom>
        </p:spPr>
      </p:pic>
      <p:pic>
        <p:nvPicPr>
          <p:cNvPr id="47" name="Рисунок 46">
            <a:extLst>
              <a:ext uri="{FF2B5EF4-FFF2-40B4-BE49-F238E27FC236}">
                <a16:creationId xmlns:a16="http://schemas.microsoft.com/office/drawing/2014/main" id="{02A3F781-8FDA-4BF1-991B-D65B1A330AB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12192000" y="-15943"/>
            <a:ext cx="12192000" cy="6858000"/>
          </a:xfrm>
          <a:prstGeom prst="rect">
            <a:avLst/>
          </a:prstGeom>
        </p:spPr>
      </p:pic>
      <p:pic>
        <p:nvPicPr>
          <p:cNvPr id="48" name="Рисунок 47">
            <a:extLst>
              <a:ext uri="{FF2B5EF4-FFF2-40B4-BE49-F238E27FC236}">
                <a16:creationId xmlns:a16="http://schemas.microsoft.com/office/drawing/2014/main" id="{61E465F0-4B03-4E67-B4DE-C66CFFFD4857}"/>
              </a:ext>
            </a:extLst>
          </p:cNvPr>
          <p:cNvPicPr>
            <a:picLocks noChangeAspect="1"/>
          </p:cNvPicPr>
          <p:nvPr/>
        </p:nvPicPr>
        <p:blipFill>
          <a:blip r:embed="rId9">
            <a:alphaModFix amt="70000"/>
          </a:blip>
          <a:stretch>
            <a:fillRect/>
          </a:stretch>
        </p:blipFill>
        <p:spPr>
          <a:xfrm>
            <a:off x="-12192000" y="-15943"/>
            <a:ext cx="12192000" cy="685800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B04B754-14B3-4798-A006-1928D589586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5400000">
            <a:off x="-3929850" y="0"/>
            <a:ext cx="6937641" cy="6858000"/>
          </a:xfrm>
          <a:prstGeom prst="rect">
            <a:avLst/>
          </a:prstGeom>
        </p:spPr>
      </p:pic>
      <p:pic>
        <p:nvPicPr>
          <p:cNvPr id="49" name="Рисунок 48">
            <a:extLst>
              <a:ext uri="{FF2B5EF4-FFF2-40B4-BE49-F238E27FC236}">
                <a16:creationId xmlns:a16="http://schemas.microsoft.com/office/drawing/2014/main" id="{587EC775-9F6C-4960-9C9C-65867903E11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-18316882" y="-1958680"/>
            <a:ext cx="18364200" cy="10329863"/>
          </a:xfrm>
          <a:prstGeom prst="rect">
            <a:avLst/>
          </a:prstGeom>
        </p:spPr>
      </p:pic>
      <p:pic>
        <p:nvPicPr>
          <p:cNvPr id="50" name="Рисунок 49">
            <a:extLst>
              <a:ext uri="{FF2B5EF4-FFF2-40B4-BE49-F238E27FC236}">
                <a16:creationId xmlns:a16="http://schemas.microsoft.com/office/drawing/2014/main" id="{54A5A5DE-24D6-43D4-8D64-69C7F9A246B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-11721828" y="2668864"/>
            <a:ext cx="4291588" cy="454802"/>
          </a:xfrm>
          <a:prstGeom prst="rect">
            <a:avLst/>
          </a:prstGeom>
        </p:spPr>
      </p:pic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B285D910-E1BB-4348-83F7-60EF8D5EAF3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-11555905" y="3476762"/>
            <a:ext cx="7231305" cy="192301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169C502-5A13-452C-B3E3-9732FFE90CDB}"/>
              </a:ext>
            </a:extLst>
          </p:cNvPr>
          <p:cNvSpPr txBox="1"/>
          <p:nvPr/>
        </p:nvSpPr>
        <p:spPr>
          <a:xfrm>
            <a:off x="1744214" y="127743"/>
            <a:ext cx="10504796" cy="68018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6000" b="1" i="0" dirty="0">
                <a:solidFill>
                  <a:schemeClr val="accent4">
                    <a:lumMod val="40000"/>
                    <a:lumOff val="60000"/>
                  </a:schemeClr>
                </a:solidFill>
                <a:effectLst/>
                <a:latin typeface="quote-cjk-patch"/>
              </a:rPr>
              <a:t>Рефлексия по трем прошедшим дням</a:t>
            </a:r>
            <a:br>
              <a:rPr lang="ru-RU" dirty="0"/>
            </a:br>
            <a:r>
              <a:rPr lang="ru-RU" b="0" i="0" dirty="0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latin typeface="Comic Sans MS" panose="030F0702030302020204" pitchFamily="66" charset="0"/>
              </a:rPr>
              <a:t>День 1 – Обнаружение объектов</a:t>
            </a:r>
          </a:p>
          <a:p>
            <a:r>
              <a:rPr lang="ru-RU" b="0" i="0" dirty="0">
                <a:solidFill>
                  <a:srgbClr val="DD1944"/>
                </a:solidFill>
                <a:effectLst/>
                <a:latin typeface="Comic Sans MS" panose="030F0702030302020204" pitchFamily="66" charset="0"/>
              </a:rPr>
              <a:t>Что получилось: Устойчивая навигация по </a:t>
            </a:r>
            <a:r>
              <a:rPr lang="ru-RU" b="0" i="0" dirty="0" err="1">
                <a:solidFill>
                  <a:srgbClr val="DD1944"/>
                </a:solidFill>
                <a:effectLst/>
                <a:latin typeface="Comic Sans MS" panose="030F0702030302020204" pitchFamily="66" charset="0"/>
              </a:rPr>
              <a:t>ArUco</a:t>
            </a:r>
            <a:r>
              <a:rPr lang="ru-RU" b="0" i="0" dirty="0">
                <a:solidFill>
                  <a:srgbClr val="DD1944"/>
                </a:solidFill>
                <a:effectLst/>
                <a:latin typeface="Comic Sans MS" panose="030F0702030302020204" pitchFamily="66" charset="0"/>
              </a:rPr>
              <a:t>-маркерам, точное позиционирование.</a:t>
            </a:r>
          </a:p>
          <a:p>
            <a:r>
              <a:rPr lang="ru-RU" b="0" i="0" dirty="0">
                <a:solidFill>
                  <a:srgbClr val="DD1944"/>
                </a:solidFill>
                <a:effectLst/>
                <a:latin typeface="Comic Sans MS" panose="030F0702030302020204" pitchFamily="66" charset="0"/>
              </a:rPr>
              <a:t>Проблемы: Сложность адаптации детектора под освещение – решено настройкой порога и использованием /</a:t>
            </a:r>
            <a:r>
              <a:rPr lang="ru-RU" b="0" i="0" dirty="0" err="1">
                <a:solidFill>
                  <a:srgbClr val="DD1944"/>
                </a:solidFill>
                <a:effectLst/>
                <a:latin typeface="Comic Sans MS" panose="030F0702030302020204" pitchFamily="66" charset="0"/>
              </a:rPr>
              <a:t>front_camera</a:t>
            </a:r>
            <a:r>
              <a:rPr lang="ru-RU" b="0" i="0" dirty="0">
                <a:solidFill>
                  <a:srgbClr val="DD1944"/>
                </a:solidFill>
                <a:effectLst/>
                <a:latin typeface="Comic Sans MS" panose="030F0702030302020204" pitchFamily="66" charset="0"/>
              </a:rPr>
              <a:t>/</a:t>
            </a:r>
            <a:r>
              <a:rPr lang="ru-RU" b="0" i="0" dirty="0" err="1">
                <a:solidFill>
                  <a:srgbClr val="DD1944"/>
                </a:solidFill>
                <a:effectLst/>
                <a:latin typeface="Comic Sans MS" panose="030F0702030302020204" pitchFamily="66" charset="0"/>
              </a:rPr>
              <a:t>image_raw_throttled</a:t>
            </a:r>
            <a:r>
              <a:rPr lang="ru-RU" b="0" i="0" dirty="0">
                <a:solidFill>
                  <a:srgbClr val="DD1944"/>
                </a:solidFill>
                <a:effectLst/>
                <a:latin typeface="Comic Sans MS" panose="030F0702030302020204" pitchFamily="66" charset="0"/>
              </a:rPr>
              <a:t>.</a:t>
            </a:r>
          </a:p>
          <a:p>
            <a:r>
              <a:rPr lang="ru-RU" b="0" i="0" dirty="0">
                <a:solidFill>
                  <a:srgbClr val="DD1944"/>
                </a:solidFill>
                <a:effectLst/>
                <a:latin typeface="Comic Sans MS" panose="030F0702030302020204" pitchFamily="66" charset="0"/>
              </a:rPr>
              <a:t>Вывод: Необходимость универсального интерфейса для детектора.</a:t>
            </a:r>
          </a:p>
          <a:p>
            <a:r>
              <a:rPr lang="ru-RU" b="0" i="0" dirty="0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latin typeface="Comic Sans MS" panose="030F0702030302020204" pitchFamily="66" charset="0"/>
              </a:rPr>
              <a:t>День 2 – Сопровождение цели</a:t>
            </a:r>
          </a:p>
          <a:p>
            <a:r>
              <a:rPr lang="ru-RU" b="0" i="0" dirty="0">
                <a:solidFill>
                  <a:srgbClr val="DD1944"/>
                </a:solidFill>
                <a:effectLst/>
                <a:latin typeface="Comic Sans MS" panose="030F0702030302020204" pitchFamily="66" charset="0"/>
              </a:rPr>
              <a:t>Что получилось: Успешный захват человека и удержание в течение 120 с </a:t>
            </a:r>
            <a:r>
              <a:rPr lang="ru-RU" b="0" i="0" dirty="0" err="1">
                <a:solidFill>
                  <a:srgbClr val="DD1944"/>
                </a:solidFill>
                <a:effectLst/>
                <a:latin typeface="Comic Sans MS" panose="030F0702030302020204" pitchFamily="66" charset="0"/>
              </a:rPr>
              <a:t>с</a:t>
            </a:r>
            <a:r>
              <a:rPr lang="ru-RU" b="0" i="0" dirty="0">
                <a:solidFill>
                  <a:srgbClr val="DD1944"/>
                </a:solidFill>
                <a:effectLst/>
                <a:latin typeface="Comic Sans MS" panose="030F0702030302020204" pitchFamily="66" charset="0"/>
              </a:rPr>
              <a:t> </a:t>
            </a:r>
            <a:r>
              <a:rPr lang="ru-RU" b="0" i="0" dirty="0" err="1">
                <a:solidFill>
                  <a:srgbClr val="DD1944"/>
                </a:solidFill>
                <a:effectLst/>
                <a:latin typeface="Comic Sans MS" panose="030F0702030302020204" pitchFamily="66" charset="0"/>
              </a:rPr>
              <a:t>IoU</a:t>
            </a:r>
            <a:r>
              <a:rPr lang="ru-RU" b="0" i="0" dirty="0">
                <a:solidFill>
                  <a:srgbClr val="DD1944"/>
                </a:solidFill>
                <a:effectLst/>
                <a:latin typeface="Comic Sans MS" panose="030F0702030302020204" pitchFamily="66" charset="0"/>
              </a:rPr>
              <a:t>-трекингом.</a:t>
            </a:r>
          </a:p>
          <a:p>
            <a:r>
              <a:rPr lang="ru-RU" b="0" i="0" dirty="0">
                <a:solidFill>
                  <a:srgbClr val="DD1944"/>
                </a:solidFill>
                <a:effectLst/>
                <a:latin typeface="Comic Sans MS" panose="030F0702030302020204" pitchFamily="66" charset="0"/>
              </a:rPr>
              <a:t>Проблемы: Потеря цели при быстрых поворотах – решено добавлением паузы перед переходом в поиск.</a:t>
            </a:r>
          </a:p>
          <a:p>
            <a:r>
              <a:rPr lang="ru-RU" b="0" i="0" dirty="0">
                <a:solidFill>
                  <a:srgbClr val="DD1944"/>
                </a:solidFill>
                <a:effectLst/>
                <a:latin typeface="Comic Sans MS" panose="030F0702030302020204" pitchFamily="66" charset="0"/>
              </a:rPr>
              <a:t>Вывод: Конечный автомат с гистерезисом повышает надёжность.</a:t>
            </a:r>
          </a:p>
          <a:p>
            <a:r>
              <a:rPr lang="ru-RU" b="0" i="0" dirty="0">
                <a:solidFill>
                  <a:schemeClr val="accent1">
                    <a:lumMod val="40000"/>
                    <a:lumOff val="60000"/>
                  </a:schemeClr>
                </a:solidFill>
                <a:effectLst/>
                <a:latin typeface="Comic Sans MS" panose="030F0702030302020204" pitchFamily="66" charset="0"/>
              </a:rPr>
              <a:t>День 3 – Интеграция и финал</a:t>
            </a:r>
          </a:p>
          <a:p>
            <a:r>
              <a:rPr lang="ru-RU" b="0" i="0" dirty="0">
                <a:solidFill>
                  <a:srgbClr val="DD1944"/>
                </a:solidFill>
                <a:effectLst/>
                <a:latin typeface="Comic Sans MS" panose="030F0702030302020204" pitchFamily="66" charset="0"/>
              </a:rPr>
              <a:t>Что получилось: Упрощённый код, работающий на ограниченном железе (</a:t>
            </a:r>
            <a:r>
              <a:rPr lang="ru-RU" b="0" i="0" dirty="0" err="1">
                <a:solidFill>
                  <a:srgbClr val="DD1944"/>
                </a:solidFill>
                <a:effectLst/>
                <a:latin typeface="Comic Sans MS" panose="030F0702030302020204" pitchFamily="66" charset="0"/>
              </a:rPr>
              <a:t>RPi</a:t>
            </a:r>
            <a:r>
              <a:rPr lang="ru-RU" b="0" i="0" dirty="0">
                <a:solidFill>
                  <a:srgbClr val="DD1944"/>
                </a:solidFill>
                <a:effectLst/>
                <a:latin typeface="Comic Sans MS" panose="030F0702030302020204" pitchFamily="66" charset="0"/>
              </a:rPr>
              <a:t> Zero 2 W).</a:t>
            </a:r>
          </a:p>
          <a:p>
            <a:r>
              <a:rPr lang="ru-RU" b="0" i="0" dirty="0">
                <a:solidFill>
                  <a:srgbClr val="DD1944"/>
                </a:solidFill>
                <a:effectLst/>
                <a:latin typeface="Comic Sans MS" panose="030F0702030302020204" pitchFamily="66" charset="0"/>
              </a:rPr>
              <a:t>Проблемы: Задержки при обработке кадров – решено уменьшением </a:t>
            </a:r>
            <a:r>
              <a:rPr lang="ru-RU" b="0" i="0" dirty="0" err="1">
                <a:solidFill>
                  <a:srgbClr val="DD1944"/>
                </a:solidFill>
                <a:effectLst/>
                <a:latin typeface="Comic Sans MS" panose="030F0702030302020204" pitchFamily="66" charset="0"/>
              </a:rPr>
              <a:t>frame_skip</a:t>
            </a:r>
            <a:r>
              <a:rPr lang="ru-RU" b="0" i="0" dirty="0">
                <a:solidFill>
                  <a:srgbClr val="DD1944"/>
                </a:solidFill>
                <a:effectLst/>
                <a:latin typeface="Comic Sans MS" panose="030F0702030302020204" pitchFamily="66" charset="0"/>
              </a:rPr>
              <a:t>.</a:t>
            </a:r>
          </a:p>
          <a:p>
            <a:r>
              <a:rPr lang="ru-RU" b="0" i="0" dirty="0">
                <a:solidFill>
                  <a:srgbClr val="DD1944"/>
                </a:solidFill>
                <a:effectLst/>
                <a:latin typeface="Comic Sans MS" panose="030F0702030302020204" pitchFamily="66" charset="0"/>
              </a:rPr>
              <a:t>Вывод: Баланс между сложностью алгоритма и вычислительными ресурсами критичен.</a:t>
            </a:r>
          </a:p>
          <a:p>
            <a:endParaRPr lang="ru-RU" sz="3200" b="0" i="0" dirty="0">
              <a:solidFill>
                <a:srgbClr val="DD1944"/>
              </a:solidFill>
              <a:effectLst/>
              <a:latin typeface="quote-cjk-patch"/>
            </a:endParaRPr>
          </a:p>
          <a:p>
            <a:r>
              <a:rPr lang="ru-RU" sz="3200" b="0" i="0" dirty="0">
                <a:solidFill>
                  <a:srgbClr val="DD1944"/>
                </a:solidFill>
                <a:effectLst/>
                <a:latin typeface="quote-cjk-patch"/>
              </a:rPr>
              <a:t>.</a:t>
            </a:r>
            <a:endParaRPr lang="ru-RU" sz="3200" dirty="0">
              <a:solidFill>
                <a:srgbClr val="DD194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274504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</TotalTime>
  <Words>513</Words>
  <Application>Microsoft Office PowerPoint</Application>
  <PresentationFormat>Широкоэкранный</PresentationFormat>
  <Paragraphs>53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Arial</vt:lpstr>
      <vt:lpstr>Calibri</vt:lpstr>
      <vt:lpstr>Calibri Light</vt:lpstr>
      <vt:lpstr>Comic Sans MS</vt:lpstr>
      <vt:lpstr>quote-cjk-patch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Финал НТО 2025/2026</dc:title>
  <dc:creator>Богдан Игошин</dc:creator>
  <cp:lastModifiedBy>user</cp:lastModifiedBy>
  <cp:revision>24</cp:revision>
  <dcterms:created xsi:type="dcterms:W3CDTF">2026-03-22T18:59:37Z</dcterms:created>
  <dcterms:modified xsi:type="dcterms:W3CDTF">2026-03-25T13:46:23Z</dcterms:modified>
</cp:coreProperties>
</file>