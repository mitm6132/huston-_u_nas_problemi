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1944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38B1855-1B75-4FBE-930C-398BA8C253C6}" styleName="Стиль из темы 2 - акцент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20" autoAdjust="0"/>
    <p:restoredTop sz="94660"/>
  </p:normalViewPr>
  <p:slideViewPr>
    <p:cSldViewPr snapToGrid="0">
      <p:cViewPr>
        <p:scale>
          <a:sx n="50" d="100"/>
          <a:sy n="50" d="100"/>
        </p:scale>
        <p:origin x="4698" y="2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B6647-F5DC-44A3-9736-725B2A100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43835A-5150-4FF3-85FA-2EE554516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A80AB4-923C-4B6B-A219-5432712F2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BBD209-637F-4C13-A6C6-BABE4D439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189895-2BED-40A1-A53D-20F78189F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2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8BC7F4-EBAB-43AF-9D23-093D83D3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D20874-BA4A-4C1B-B7A6-7FFF8B1BF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C2A41A-9878-4EC9-923C-DDCC0A236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FF1FF1-1B31-4CD4-ABDF-D36C89C11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C48598-739D-43FA-9B98-8B36A476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2654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D2E6B4-96A8-4E7B-AC18-1FF6D232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B0FEFC-A80A-4E88-8163-884597CFD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4F9C3E-0DC2-40FD-B095-60AAC14DC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180AA6-537F-4A20-B167-DEAB9A76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97C365-113D-4CF9-A925-66B927773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244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5DE4B7-BEBE-4CEB-86EA-E380C3024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6DFC86-F71E-4925-B366-58C1B959C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5385E2-5B2F-47E2-ADD1-7522F4047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CE154E-18F4-4029-8882-8DF3D5D9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50D586-A717-4323-8201-42771FDA5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0C2CEDC-0E8C-4790-96F7-A5BFEDE28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8586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ADB69A-298E-42D2-ACEE-CEBAA0584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622F7A-219C-4FB4-9CCE-20D232BE1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579EC5-E200-497A-B26D-FA5CADA4F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8BA67CD-E2E6-4C71-82FB-FD20BF638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06E3EF9-11F7-408B-91BE-6372F5930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1809118-F75F-44CC-A290-5800BF407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ED89FB6-12FA-40E9-89AD-A453C187E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081BC23-7AAE-4E68-B0BC-E352A831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6792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9E602-94C2-4023-9405-648E8EEEF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D117D9E-AE54-4C40-B644-E73EF4312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454F5E-B1CA-4221-9473-6DA0193D7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C138E6-8B50-4E53-AE13-2F442CEC8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1890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44E3393-D440-4B17-A466-059110D61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78CAAE5-B754-4A9D-B945-505D97482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BB3337-F0D8-457E-B232-67BF2DA05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6056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DB946-E7D4-4F2C-B7CD-FCE2BDAE9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5EA9D0-4174-44D0-A42B-7BF904C9D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496CEF8-B2FA-4761-848E-24E4D1F4C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178EC8-268B-4330-8EB9-6B5116E1C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682B42-9918-4F46-AB7A-E5CF98BC5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A135691-3312-4532-8915-AB50FD6D9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480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3DF02-6A6A-4005-BA77-0C8FB1A4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E137B85-2BAA-4545-86B1-E538C7B318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9B42B8-1E21-4B4B-9BC4-39F31B7B1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278F6E6-4019-43C3-8152-2EC7E3164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2E5368-91E9-4848-9EEB-B7DB63ED0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C74500-F922-4DC6-A5D3-CC84D23AD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0535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EA205A-A463-4D41-9171-4671B143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428F44-8C85-4E01-B7EB-BE9FB170A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45361E-F32E-434F-9FFA-576156ED7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33F7B9-F481-4ECB-92E4-05BA992A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744B7C-4A68-4396-9903-F79B6B91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5452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DE95F9-E9FA-4C23-949E-ADFEA8E10B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0D5AEFC-2071-47FE-954F-909A83F7D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102D4E-5AFD-454A-875F-3772999A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6B2B9E-1FB8-42CD-AAD9-44858BC2E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B5A9E8-7319-4B74-B4E6-8EC986BCA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249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8009AF-81A4-465B-B464-857AB5BB0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05B1F8-AA4B-41D7-BD2F-DB5E72252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D42E59-CDDF-4F37-BBA0-69108BA62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75B55-F754-4493-BD2F-0B1C87E24D7D}" type="datetimeFigureOut">
              <a:rPr lang="ru-RU" smtClean="0"/>
              <a:t>25.03.2026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E1CF7A-5645-4605-A36B-17FB61456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FF1C8B-F63A-44BA-B9FB-01EF983F2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CC2A5-3AAE-40ED-85FF-426F8F557A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376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12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0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4.png"/><Relationship Id="rId3" Type="http://schemas.openxmlformats.org/officeDocument/2006/relationships/image" Target="../media/image17.png"/><Relationship Id="rId7" Type="http://schemas.openxmlformats.org/officeDocument/2006/relationships/image" Target="../media/image15.png"/><Relationship Id="rId12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7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.png"/><Relationship Id="rId1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4.png"/><Relationship Id="rId3" Type="http://schemas.openxmlformats.org/officeDocument/2006/relationships/image" Target="../media/image17.png"/><Relationship Id="rId7" Type="http://schemas.openxmlformats.org/officeDocument/2006/relationships/image" Target="../media/image15.png"/><Relationship Id="rId12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7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12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0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Relationship Id="rId1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12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5" Type="http://schemas.openxmlformats.org/officeDocument/2006/relationships/image" Target="../media/image26.jpg"/><Relationship Id="rId10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Relationship Id="rId1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4.png"/><Relationship Id="rId3" Type="http://schemas.openxmlformats.org/officeDocument/2006/relationships/image" Target="../media/image17.png"/><Relationship Id="rId7" Type="http://schemas.openxmlformats.org/officeDocument/2006/relationships/image" Target="../media/image15.png"/><Relationship Id="rId12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7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.png"/><Relationship Id="rId1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404E86-15EB-498E-9993-C44ABC6AE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CB3C5F5-FF0E-46FB-B38E-B7C2166CEC3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-11023"/>
            <a:ext cx="12192000" cy="6858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7975893-6FA9-4FD0-A075-9272B8560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12523" y="5538334"/>
            <a:ext cx="10730400" cy="390502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1E975EA-DC4C-43F1-B4A6-6EC336A56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24" y="6324601"/>
            <a:ext cx="4444498" cy="127319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5D3479A-09D8-4DAF-B415-C6C672BFEF4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Mark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6855"/>
            <a:ext cx="12192000" cy="1434243"/>
          </a:xfrm>
          <a:prstGeom prst="rect">
            <a:avLst/>
          </a:prstGeom>
        </p:spPr>
      </p:pic>
      <p:sp>
        <p:nvSpPr>
          <p:cNvPr id="23" name="Подзаголовок 22">
            <a:extLst>
              <a:ext uri="{FF2B5EF4-FFF2-40B4-BE49-F238E27FC236}">
                <a16:creationId xmlns:a16="http://schemas.microsoft.com/office/drawing/2014/main" id="{7DA22040-9D00-442A-A87D-0920D84D9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23024" y="3199365"/>
            <a:ext cx="533400" cy="459265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8BA62E03-42C7-4BF2-869A-75979DBDD4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" y="211377"/>
            <a:ext cx="12192000" cy="1142429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916A025-8702-437E-ADC5-414BC24A93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2254044" y="1054097"/>
            <a:ext cx="4804959" cy="474980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E8B97CA-8B9B-450C-876F-EE2B4D4F5E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031424" y="1826053"/>
            <a:ext cx="7962900" cy="885825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6E328C6B-1266-40A5-9160-3B11C82EBF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28514" y="2675140"/>
            <a:ext cx="4030877" cy="448411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1285FA15-A867-4E9E-B96E-80FBAF81F65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28514" y="3448355"/>
            <a:ext cx="6578600" cy="1836859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D30FCD3D-8888-44F6-B501-1806947450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28514" y="4323521"/>
            <a:ext cx="5788870" cy="1173642"/>
          </a:xfrm>
          <a:prstGeom prst="rect">
            <a:avLst/>
          </a:prstGeom>
        </p:spPr>
      </p:pic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317289EF-E52C-4763-ACE8-C25F62C5A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08479"/>
              </p:ext>
            </p:extLst>
          </p:nvPr>
        </p:nvGraphicFramePr>
        <p:xfrm>
          <a:off x="703385" y="1645621"/>
          <a:ext cx="9267090" cy="379602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82698">
                  <a:extLst>
                    <a:ext uri="{9D8B030D-6E8A-4147-A177-3AD203B41FA5}">
                      <a16:colId xmlns:a16="http://schemas.microsoft.com/office/drawing/2014/main" val="1395701330"/>
                    </a:ext>
                  </a:extLst>
                </a:gridCol>
                <a:gridCol w="3992196">
                  <a:extLst>
                    <a:ext uri="{9D8B030D-6E8A-4147-A177-3AD203B41FA5}">
                      <a16:colId xmlns:a16="http://schemas.microsoft.com/office/drawing/2014/main" val="1351229975"/>
                    </a:ext>
                  </a:extLst>
                </a:gridCol>
                <a:gridCol w="3992196">
                  <a:extLst>
                    <a:ext uri="{9D8B030D-6E8A-4147-A177-3AD203B41FA5}">
                      <a16:colId xmlns:a16="http://schemas.microsoft.com/office/drawing/2014/main" val="2461842655"/>
                    </a:ext>
                  </a:extLst>
                </a:gridCol>
              </a:tblGrid>
              <a:tr h="492097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Роль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Имя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Задачи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091484"/>
                  </a:ext>
                </a:extLst>
              </a:tr>
              <a:tr h="83505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Капитан команды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DD1944"/>
                          </a:solidFill>
                        </a:rPr>
                        <a:t>Игошин Богдан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DD1944"/>
                          </a:solidFill>
                        </a:rPr>
                        <a:t>Координация, общая архитектура, распределение задач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286494"/>
                  </a:ext>
                </a:extLst>
              </a:tr>
              <a:tr h="83505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Инженер-программист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>
                          <a:solidFill>
                            <a:srgbClr val="DD1944"/>
                          </a:solidFill>
                        </a:rPr>
                        <a:t>Бессалов</a:t>
                      </a:r>
                      <a:r>
                        <a:rPr lang="ru-RU" dirty="0">
                          <a:solidFill>
                            <a:srgbClr val="DD1944"/>
                          </a:solidFill>
                        </a:rPr>
                        <a:t> Николай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DD1944"/>
                          </a:solidFill>
                        </a:rPr>
                        <a:t>Компьютерное зрение, интеграция </a:t>
                      </a:r>
                      <a:r>
                        <a:rPr lang="en-US" dirty="0" err="1">
                          <a:solidFill>
                            <a:srgbClr val="DD1944"/>
                          </a:solidFill>
                        </a:rPr>
                        <a:t>TFLite</a:t>
                      </a:r>
                      <a:r>
                        <a:rPr lang="en-US" dirty="0">
                          <a:solidFill>
                            <a:srgbClr val="DD1944"/>
                          </a:solidFill>
                        </a:rPr>
                        <a:t>-</a:t>
                      </a:r>
                      <a:r>
                        <a:rPr lang="ru-RU" dirty="0">
                          <a:solidFill>
                            <a:srgbClr val="DD1944"/>
                          </a:solidFill>
                        </a:rPr>
                        <a:t>модели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223726"/>
                  </a:ext>
                </a:extLst>
              </a:tr>
              <a:tr h="835050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Инженер-программист</a:t>
                      </a:r>
                      <a:endParaRPr lang="ru-RU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 err="1">
                          <a:solidFill>
                            <a:srgbClr val="DD1944"/>
                          </a:solidFill>
                          <a:effectLst/>
                        </a:rPr>
                        <a:t>Ташу</a:t>
                      </a:r>
                      <a:r>
                        <a:rPr lang="ru-RU" sz="1800" b="0" kern="1200" dirty="0">
                          <a:solidFill>
                            <a:srgbClr val="DD1944"/>
                          </a:solidFill>
                          <a:effectLst/>
                        </a:rPr>
                        <a:t> Ростислав</a:t>
                      </a:r>
                      <a:endParaRPr lang="ru-RU" dirty="0">
                        <a:solidFill>
                          <a:srgbClr val="DD194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rgbClr val="DD1944"/>
                          </a:solidFill>
                          <a:effectLst/>
                        </a:rPr>
                        <a:t>Алгоритмы управления, </a:t>
                      </a:r>
                      <a:r>
                        <a:rPr lang="en-US" sz="1800" b="0" kern="1200" dirty="0">
                          <a:solidFill>
                            <a:srgbClr val="DD1944"/>
                          </a:solidFill>
                          <a:effectLst/>
                        </a:rPr>
                        <a:t>ROS-</a:t>
                      </a:r>
                      <a:r>
                        <a:rPr lang="ru-RU" sz="1800" b="0" kern="1200" dirty="0">
                          <a:solidFill>
                            <a:srgbClr val="DD1944"/>
                          </a:solidFill>
                          <a:effectLst/>
                        </a:rPr>
                        <a:t>узлы, отладка</a:t>
                      </a:r>
                      <a:endParaRPr lang="ru-RU" dirty="0">
                        <a:solidFill>
                          <a:srgbClr val="DD1944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804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Инженер-техник</a:t>
                      </a:r>
                      <a:endParaRPr lang="ru-RU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 err="1">
                          <a:solidFill>
                            <a:srgbClr val="DD1944"/>
                          </a:solidFill>
                          <a:effectLst/>
                        </a:rPr>
                        <a:t>Пикинер</a:t>
                      </a:r>
                      <a:r>
                        <a:rPr lang="ru-RU" sz="1800" b="0" kern="1200" dirty="0">
                          <a:solidFill>
                            <a:srgbClr val="DD1944"/>
                          </a:solidFill>
                          <a:effectLst/>
                        </a:rPr>
                        <a:t> Илья</a:t>
                      </a:r>
                      <a:endParaRPr lang="ru-RU" dirty="0">
                        <a:solidFill>
                          <a:srgbClr val="DD194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rgbClr val="DD1944"/>
                          </a:solidFill>
                          <a:effectLst/>
                        </a:rPr>
                        <a:t>Аппаратная часть, сборка</a:t>
                      </a:r>
                      <a:endParaRPr lang="ru-RU" dirty="0">
                        <a:solidFill>
                          <a:srgbClr val="DD1944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78161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CE10F9E-B41B-49BD-BA11-0832A91E2EA0}"/>
              </a:ext>
            </a:extLst>
          </p:cNvPr>
          <p:cNvSpPr txBox="1"/>
          <p:nvPr/>
        </p:nvSpPr>
        <p:spPr>
          <a:xfrm>
            <a:off x="8212015" y="6324601"/>
            <a:ext cx="3481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anose="030F0702030302020204" pitchFamily="66" charset="0"/>
              </a:rPr>
              <a:t>ГБПОУ КК ККЭП</a:t>
            </a:r>
          </a:p>
        </p:txBody>
      </p:sp>
    </p:spTree>
    <p:extLst>
      <p:ext uri="{BB962C8B-B14F-4D97-AF65-F5344CB8AC3E}">
        <p14:creationId xmlns:p14="http://schemas.microsoft.com/office/powerpoint/2010/main" val="2232359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090DB3B-59FB-49E8-B0B9-31D547B5F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0"/>
            <a:ext cx="12192000" cy="78957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404E86-15EB-498E-9993-C44ABC6AE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CB3C5F5-FF0E-46FB-B38E-B7C2166CEC3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7975893-6FA9-4FD0-A075-9272B8560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23024" y="6858000"/>
            <a:ext cx="10730400" cy="390502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1E975EA-DC4C-43F1-B4A6-6EC336A56F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683501"/>
            <a:ext cx="4444498" cy="127319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5D3479A-09D8-4DAF-B415-C6C672BFEF4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Mark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278" y="-1778515"/>
            <a:ext cx="12192000" cy="143424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8BA62E03-42C7-4BF2-869A-75979DBDD4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-1511066"/>
            <a:ext cx="12192000" cy="1142429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D500949D-80AB-4BE8-9484-4E2AC27653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35352" y="1851171"/>
            <a:ext cx="8458200" cy="90487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48F88549-C1A4-415C-93BA-7B3F10B391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16221" y="2756046"/>
            <a:ext cx="4252180" cy="451134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C7A96178-3067-4BE7-BC3B-FACB90F2A9F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33304" y="3444233"/>
            <a:ext cx="5128932" cy="116665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8A430E93-F5FF-427E-9446-1D92D53C318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133304" y="4452485"/>
            <a:ext cx="6096000" cy="97690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04B754-14B3-4798-A006-1928D589586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89520" y="1054100"/>
            <a:ext cx="4804959" cy="4749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1B1D6C-E55D-4738-ADAE-6DC40C6289EF}"/>
              </a:ext>
            </a:extLst>
          </p:cNvPr>
          <p:cNvSpPr txBox="1"/>
          <p:nvPr/>
        </p:nvSpPr>
        <p:spPr>
          <a:xfrm>
            <a:off x="205977" y="-33642"/>
            <a:ext cx="847704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anose="030F0702030302020204" pitchFamily="66" charset="0"/>
              </a:rPr>
              <a:t>Задача первого дня</a:t>
            </a:r>
          </a:p>
          <a:p>
            <a:r>
              <a:rPr lang="ru-RU" sz="3200" dirty="0">
                <a:solidFill>
                  <a:srgbClr val="DD1944"/>
                </a:solidFill>
                <a:latin typeface="Comic Sans MS" panose="030F0702030302020204" pitchFamily="66" charset="0"/>
              </a:rPr>
              <a:t>Автономное перемещение по полю с одновременным распознаванием людей и деревьев. Требовалась точная навигация по </a:t>
            </a:r>
            <a:r>
              <a:rPr lang="ru-RU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ArUco</a:t>
            </a:r>
            <a:r>
              <a:rPr lang="ru-RU" sz="3200" dirty="0">
                <a:solidFill>
                  <a:srgbClr val="DD1944"/>
                </a:solidFill>
                <a:latin typeface="Comic Sans MS" panose="030F0702030302020204" pitchFamily="66" charset="0"/>
              </a:rPr>
              <a:t>-карте и надёжная синхронизация движений.</a:t>
            </a:r>
          </a:p>
        </p:txBody>
      </p:sp>
    </p:spTree>
    <p:extLst>
      <p:ext uri="{BB962C8B-B14F-4D97-AF65-F5344CB8AC3E}">
        <p14:creationId xmlns:p14="http://schemas.microsoft.com/office/powerpoint/2010/main" val="1206492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38B32F35-C663-40A0-BDD1-02CE3FEDB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0"/>
            <a:ext cx="12192000" cy="7023177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28CE8DC-4703-4717-A3C0-DA468FE79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F91F75-53B8-417E-8486-8A104F3742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8957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404E86-15EB-498E-9993-C44ABC6AE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0"/>
            <a:ext cx="12192000" cy="6858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CB3C5F5-FF0E-46FB-B38E-B7C2166CEC3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BF3C839-3A41-4120-B7BA-026D53A3E7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731774" y="2073527"/>
            <a:ext cx="7962900" cy="88582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7AA590B-A298-4447-A248-590359AF5C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234684" y="2922614"/>
            <a:ext cx="4030877" cy="44841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30091B4-7F63-49AA-950D-6620A72D4B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9234684" y="3695829"/>
            <a:ext cx="6578600" cy="183685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6844D2B-7272-4D61-B815-C36BC25343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9234684" y="4596166"/>
            <a:ext cx="5788870" cy="117364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04B754-14B3-4798-A006-1928D58958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-3929850" y="0"/>
            <a:ext cx="6937641" cy="68580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C4F47AE1-CFB2-4730-8415-42FCB4DCDD2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0" y="6895146"/>
            <a:ext cx="12192000" cy="702076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4AB09AF-333F-4EC0-BBBB-276C68F438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90153" y="7772089"/>
            <a:ext cx="12192000" cy="6034562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F833274D-FD0F-4005-93A8-CE203F95164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54071" y="8486357"/>
            <a:ext cx="10037482" cy="203501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1470382-B36E-4304-8414-47F972035A5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3200" y="7581482"/>
            <a:ext cx="8458200" cy="9048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3D79E0-04EC-4345-9D1A-DD5B663D1601}"/>
              </a:ext>
            </a:extLst>
          </p:cNvPr>
          <p:cNvSpPr txBox="1"/>
          <p:nvPr/>
        </p:nvSpPr>
        <p:spPr>
          <a:xfrm>
            <a:off x="3145839" y="0"/>
            <a:ext cx="904616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anose="030F0702030302020204" pitchFamily="66" charset="0"/>
              </a:rPr>
              <a:t>Решение</a:t>
            </a:r>
          </a:p>
          <a:p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Обеспечение автономного перемещения дрона по полю, создавая условия для работы детектора. скрипт работает параллельно с узлом компьютерного зрения, подписанным на </a:t>
            </a: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/</a:t>
            </a:r>
            <a:r>
              <a:rPr lang="ru-RU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vision</a:t>
            </a: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/</a:t>
            </a:r>
            <a:r>
              <a:rPr lang="ru-RU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detections</a:t>
            </a:r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.</a:t>
            </a:r>
          </a:p>
          <a:p>
            <a:endParaRPr lang="ru-RU" sz="2400" dirty="0">
              <a:solidFill>
                <a:srgbClr val="DD1944"/>
              </a:solidFill>
              <a:latin typeface="Comic Sans MS" panose="030F0702030302020204" pitchFamily="66" charset="0"/>
            </a:endParaRPr>
          </a:p>
          <a:p>
            <a:endParaRPr lang="ru-RU" sz="2400" dirty="0">
              <a:solidFill>
                <a:srgbClr val="DD1944"/>
              </a:solidFill>
              <a:latin typeface="Comic Sans MS" panose="030F0702030302020204" pitchFamily="66" charset="0"/>
            </a:endParaRPr>
          </a:p>
          <a:p>
            <a:endParaRPr lang="ru-RU" sz="2400" dirty="0">
              <a:solidFill>
                <a:srgbClr val="DD1944"/>
              </a:solidFill>
              <a:latin typeface="Comic Sans MS" panose="030F0702030302020204" pitchFamily="66" charset="0"/>
            </a:endParaRPr>
          </a:p>
          <a:p>
            <a:r>
              <a:rPr lang="ru-RU" sz="3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anose="030F0702030302020204" pitchFamily="66" charset="0"/>
              </a:rPr>
              <a:t>Ключевые особенности кода</a:t>
            </a:r>
          </a:p>
          <a:p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Функция </a:t>
            </a:r>
            <a:r>
              <a:rPr lang="ru-RU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navigate_wait</a:t>
            </a:r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 – отправка целевой точки и ожидание входа в допуск. Исключает «слепые» задержки, гарантирует точное позиционирование.</a:t>
            </a:r>
          </a:p>
          <a:p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Выбор систем координат – взлёт в </a:t>
            </a:r>
            <a:r>
              <a:rPr lang="ru-RU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body</a:t>
            </a:r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, перемещение по полю в </a:t>
            </a:r>
            <a:r>
              <a:rPr lang="ru-RU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aruco_map</a:t>
            </a:r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0576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C451CDE-0998-4F28-9731-ED2D624DE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934201"/>
            <a:ext cx="12192000" cy="789577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C20A533-4745-4F3A-B982-F0CBDEA4F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200"/>
            <a:ext cx="12192000" cy="7023177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675DDEA5-C44D-4ABF-9F2D-FB0F41E5D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934200"/>
            <a:ext cx="12192000" cy="68580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30C65C2-74D7-4857-96B4-B63AE03AE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666" y="-4979735"/>
            <a:ext cx="8458200" cy="904875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AAEF7C38-1331-4F0D-ABBC-75D6BF5091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5535" y="-4074860"/>
            <a:ext cx="4252180" cy="451134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AD43BBF2-05F8-4261-AD00-D8A758FB4F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2618" y="-3386673"/>
            <a:ext cx="5128932" cy="1166655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E7175403-FC85-40DD-95FD-D9CACC2F5A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2618" y="-2378421"/>
            <a:ext cx="6096000" cy="976909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C699E910-0D02-45EF-AC5F-E7CD55FAEBD4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0" y="11939"/>
            <a:ext cx="12192000" cy="68580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02A3F781-8FDA-4BF1-991B-D65B1A330A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2192000" y="-15943"/>
            <a:ext cx="12192000" cy="68580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61E465F0-4B03-4E67-B4DE-C66CFFFD4857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-12192000" y="-15943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04B754-14B3-4798-A006-1928D58958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-3929850" y="0"/>
            <a:ext cx="6937641" cy="6858000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587EC775-9F6C-4960-9C9C-65867903E1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8316882" y="-1958680"/>
            <a:ext cx="18364200" cy="10329863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54A5A5DE-24D6-43D4-8D64-69C7F9A246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1721828" y="2668864"/>
            <a:ext cx="4291588" cy="454802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B285D910-E1BB-4348-83F7-60EF8D5EAF3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1555905" y="3476762"/>
            <a:ext cx="7231305" cy="19230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69C502-5A13-452C-B3E3-9732FFE90CDB}"/>
              </a:ext>
            </a:extLst>
          </p:cNvPr>
          <p:cNvSpPr txBox="1"/>
          <p:nvPr/>
        </p:nvSpPr>
        <p:spPr>
          <a:xfrm>
            <a:off x="3999053" y="611987"/>
            <a:ext cx="76335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Задача второго дня</a:t>
            </a:r>
            <a:br>
              <a:rPr lang="ru-RU" dirty="0"/>
            </a:br>
            <a:r>
              <a:rPr lang="ru-RU" sz="3200" b="0" i="0" dirty="0">
                <a:solidFill>
                  <a:srgbClr val="DD1944"/>
                </a:solidFill>
                <a:effectLst/>
                <a:latin typeface="quote-cjk-patch"/>
              </a:rPr>
              <a:t>Автономный захват и сопровождение одной из трёх фигур человека с использованием </a:t>
            </a:r>
            <a:r>
              <a:rPr lang="ru-RU" sz="3200" b="0" i="0" dirty="0" err="1">
                <a:solidFill>
                  <a:srgbClr val="DD1944"/>
                </a:solidFill>
                <a:effectLst/>
                <a:latin typeface="quote-cjk-patch"/>
              </a:rPr>
              <a:t>нейросетевого</a:t>
            </a:r>
            <a:r>
              <a:rPr lang="ru-RU" sz="3200" b="0" i="0" dirty="0">
                <a:solidFill>
                  <a:srgbClr val="DD1944"/>
                </a:solidFill>
                <a:effectLst/>
                <a:latin typeface="quote-cjk-patch"/>
              </a:rPr>
              <a:t> детектора и фронтального дальномера. Требовалось удержание цели в кадре и заданной дистанции (1.5 м) в течение 120 секунд.</a:t>
            </a:r>
            <a:endParaRPr lang="ru-RU" sz="3200" dirty="0">
              <a:solidFill>
                <a:srgbClr val="DD19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933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C20A533-4745-4F3A-B982-F0CBDEA4F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2673" y="0"/>
            <a:ext cx="12192000" cy="7023177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C699E910-0D02-45EF-AC5F-E7CD55FAEB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2152673" y="88139"/>
            <a:ext cx="12192000" cy="6858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B0ED788-77E0-42D2-B9E0-24CA4AA7A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8223" y="2412821"/>
            <a:ext cx="12192000" cy="6034562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37EED98-C8AC-4848-BCBE-0DC87D977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20688" y="3147355"/>
            <a:ext cx="10037482" cy="203501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41CAC764-2DDA-4EB2-A637-BBCA57C5E7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01270" y="2222214"/>
            <a:ext cx="8458200" cy="90487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239B2D-E696-49F5-BF2E-2615FFCBB5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D2FED06-7FFA-4210-A261-A62DE84A0A2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13262" y="11101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04B754-14B3-4798-A006-1928D58958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9746183" y="1140926"/>
            <a:ext cx="4796386" cy="47413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1DA72F-50E9-4D7C-A1C3-7C44D233AA8C}"/>
              </a:ext>
            </a:extLst>
          </p:cNvPr>
          <p:cNvSpPr txBox="1"/>
          <p:nvPr/>
        </p:nvSpPr>
        <p:spPr>
          <a:xfrm>
            <a:off x="750380" y="1843950"/>
            <a:ext cx="848424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32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Comic Sans MS" panose="030F0702030302020204" pitchFamily="66" charset="0"/>
              </a:rPr>
              <a:t>Ключевые особенности</a:t>
            </a:r>
            <a:endParaRPr lang="ru-RU" sz="3200" b="0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Comic Sans MS" panose="030F0702030302020204" pitchFamily="66" charset="0"/>
            </a:endParaRPr>
          </a:p>
          <a:p>
            <a:pPr algn="l"/>
            <a:r>
              <a:rPr lang="ru-RU" sz="2400" b="1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Без </a:t>
            </a:r>
            <a:r>
              <a:rPr lang="ru-RU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mic Sans MS" panose="030F0702030302020204" pitchFamily="66" charset="0"/>
              </a:rPr>
              <a:t>ArUco</a:t>
            </a:r>
            <a:r>
              <a:rPr lang="ru-RU" sz="2400" b="1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-навигации</a:t>
            </a:r>
            <a:r>
              <a:rPr lang="ru-RU" sz="24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 – полёт полностью управляется по данным детектора и дальномера, что соответствует ТЗ дня 2.</a:t>
            </a:r>
          </a:p>
          <a:p>
            <a:pPr algn="l"/>
            <a:r>
              <a:rPr lang="ru-RU" sz="2400" b="1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Отказоустойчивость</a:t>
            </a:r>
            <a:r>
              <a:rPr lang="ru-RU" sz="24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 – при потере цели предусмотрена пауза (1.5 с) для возможного восстановления, после чего автоматический переход в поиск.</a:t>
            </a:r>
          </a:p>
          <a:p>
            <a:pPr algn="l"/>
            <a:r>
              <a:rPr lang="ru-RU" sz="2400" b="1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Ограничение частоты команд</a:t>
            </a:r>
            <a:r>
              <a:rPr lang="ru-RU" sz="24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 (интервал 0.2 с) предотвращает перегрузку автопилота.</a:t>
            </a:r>
          </a:p>
        </p:txBody>
      </p:sp>
    </p:spTree>
    <p:extLst>
      <p:ext uri="{BB962C8B-B14F-4D97-AF65-F5344CB8AC3E}">
        <p14:creationId xmlns:p14="http://schemas.microsoft.com/office/powerpoint/2010/main" val="1244091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C451CDE-0998-4F28-9731-ED2D624DE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934201"/>
            <a:ext cx="12192000" cy="789577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C20A533-4745-4F3A-B982-F0CBDEA4F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200"/>
            <a:ext cx="12192000" cy="7023177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675DDEA5-C44D-4ABF-9F2D-FB0F41E5D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934200"/>
            <a:ext cx="12192000" cy="68580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30C65C2-74D7-4857-96B4-B63AE03AE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666" y="-4979735"/>
            <a:ext cx="8458200" cy="904875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AAEF7C38-1331-4F0D-ABBC-75D6BF5091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5535" y="-4074860"/>
            <a:ext cx="4252180" cy="451134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AD43BBF2-05F8-4261-AD00-D8A758FB4F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2618" y="-3386673"/>
            <a:ext cx="5128932" cy="1166655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E7175403-FC85-40DD-95FD-D9CACC2F5A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2618" y="-2378421"/>
            <a:ext cx="6096000" cy="976909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C699E910-0D02-45EF-AC5F-E7CD55FAEBD4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0" y="11939"/>
            <a:ext cx="12192000" cy="68580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02A3F781-8FDA-4BF1-991B-D65B1A330A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2192000" y="-15943"/>
            <a:ext cx="12192000" cy="68580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61E465F0-4B03-4E67-B4DE-C66CFFFD4857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-12192000" y="-15943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04B754-14B3-4798-A006-1928D58958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-3929850" y="0"/>
            <a:ext cx="6937641" cy="6858000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587EC775-9F6C-4960-9C9C-65867903E1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8316882" y="-1958680"/>
            <a:ext cx="18364200" cy="10329863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54A5A5DE-24D6-43D4-8D64-69C7F9A246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1721828" y="2668864"/>
            <a:ext cx="4291588" cy="454802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B285D910-E1BB-4348-83F7-60EF8D5EAF3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1555905" y="3476762"/>
            <a:ext cx="7231305" cy="19230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69C502-5A13-452C-B3E3-9732FFE90CDB}"/>
              </a:ext>
            </a:extLst>
          </p:cNvPr>
          <p:cNvSpPr txBox="1"/>
          <p:nvPr/>
        </p:nvSpPr>
        <p:spPr>
          <a:xfrm>
            <a:off x="3636438" y="399843"/>
            <a:ext cx="8186428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Comic Sans MS" panose="030F0702030302020204" pitchFamily="66" charset="0"/>
              </a:rPr>
              <a:t>Задача третьего дня</a:t>
            </a:r>
            <a:br>
              <a:rPr lang="ru-RU" dirty="0"/>
            </a:br>
            <a:r>
              <a:rPr lang="ru-RU" sz="32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Финальная интеграция программного модуля с разработанной в инженерном модуле конструкцией дрона. Демонстрация автономного сопровождения выбранной фигуры человека с упрощённой, но надёжной логикой, совместимой с ограниченными вычислительными ресурсами бортового компьютера.</a:t>
            </a:r>
            <a:endParaRPr lang="ru-RU" sz="3200" dirty="0">
              <a:solidFill>
                <a:srgbClr val="DD1944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538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38B32F35-C663-40A0-BDD1-02CE3FEDB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0"/>
            <a:ext cx="12192000" cy="7023177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28CE8DC-4703-4717-A3C0-DA468FE79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F91F75-53B8-417E-8486-8A104F3742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8957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404E86-15EB-498E-9993-C44ABC6AE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0"/>
            <a:ext cx="12192000" cy="6858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CB3C5F5-FF0E-46FB-B38E-B7C2166CEC3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BF3C839-3A41-4120-B7BA-026D53A3E7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731774" y="2073527"/>
            <a:ext cx="7962900" cy="88582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7AA590B-A298-4447-A248-590359AF5C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234684" y="2922614"/>
            <a:ext cx="4030877" cy="44841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30091B4-7F63-49AA-950D-6620A72D4B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9234684" y="3695829"/>
            <a:ext cx="6578600" cy="183685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6844D2B-7272-4D61-B815-C36BC25343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9234684" y="4596166"/>
            <a:ext cx="5788870" cy="117364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04B754-14B3-4798-A006-1928D58958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-3929850" y="0"/>
            <a:ext cx="6937641" cy="68580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C4F47AE1-CFB2-4730-8415-42FCB4DCDD2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0" y="6895146"/>
            <a:ext cx="12192000" cy="702076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4AB09AF-333F-4EC0-BBBB-276C68F438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90153" y="7772089"/>
            <a:ext cx="12192000" cy="6034562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F833274D-FD0F-4005-93A8-CE203F95164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54071" y="8486357"/>
            <a:ext cx="10037482" cy="203501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1470382-B36E-4304-8414-47F972035A5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3200" y="7581482"/>
            <a:ext cx="8458200" cy="9048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3D79E0-04EC-4345-9D1A-DD5B663D1601}"/>
              </a:ext>
            </a:extLst>
          </p:cNvPr>
          <p:cNvSpPr txBox="1"/>
          <p:nvPr/>
        </p:nvSpPr>
        <p:spPr>
          <a:xfrm>
            <a:off x="3145839" y="0"/>
            <a:ext cx="904616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anose="030F0702030302020204" pitchFamily="66" charset="0"/>
              </a:rPr>
              <a:t>Ключевые особенности</a:t>
            </a:r>
          </a:p>
          <a:p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Отказ от сложных состояний – код не содержит конечного автомата (</a:t>
            </a: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SEARCH/TRACK</a:t>
            </a:r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), что упрощает отладку и снижает вероятность сбоев в условиях ограниченного времени финальной попытки.</a:t>
            </a:r>
          </a:p>
          <a:p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Компактность – скрипт запускается одним файлом, не требует дополнительных конфигураций, что соответствует требованиям быстрой интеграции в итоговую систему.</a:t>
            </a:r>
          </a:p>
          <a:p>
            <a:r>
              <a:rPr lang="ru-RU" sz="2400" dirty="0">
                <a:solidFill>
                  <a:srgbClr val="DD1944"/>
                </a:solidFill>
                <a:latin typeface="Comic Sans MS" panose="030F0702030302020204" pitchFamily="66" charset="0"/>
              </a:rPr>
              <a:t>Устойчивость к потерям детекции – при пропадании цели дрон продолжает медленно вращаться (0.1 рад/с), восстанавливая захват без вмешательства оператора.</a:t>
            </a:r>
          </a:p>
        </p:txBody>
      </p:sp>
    </p:spTree>
    <p:extLst>
      <p:ext uri="{BB962C8B-B14F-4D97-AF65-F5344CB8AC3E}">
        <p14:creationId xmlns:p14="http://schemas.microsoft.com/office/powerpoint/2010/main" val="332916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090DB3B-59FB-49E8-B0B9-31D547B5F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0"/>
            <a:ext cx="12192000" cy="78957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404E86-15EB-498E-9993-C44ABC6AE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CB3C5F5-FF0E-46FB-B38E-B7C2166CEC3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7975893-6FA9-4FD0-A075-9272B8560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23024" y="6858000"/>
            <a:ext cx="10730400" cy="390502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1E975EA-DC4C-43F1-B4A6-6EC336A56F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683501"/>
            <a:ext cx="4444498" cy="127319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5D3479A-09D8-4DAF-B415-C6C672BFEF4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Mark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278" y="-1778515"/>
            <a:ext cx="12192000" cy="143424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8BA62E03-42C7-4BF2-869A-75979DBDD4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-1511066"/>
            <a:ext cx="12192000" cy="1142429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D500949D-80AB-4BE8-9484-4E2AC27653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35352" y="1851171"/>
            <a:ext cx="8458200" cy="90487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48F88549-C1A4-415C-93BA-7B3F10B391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16221" y="2756046"/>
            <a:ext cx="4252180" cy="451134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C7A96178-3067-4BE7-BC3B-FACB90F2A9F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33304" y="3444233"/>
            <a:ext cx="5128932" cy="116665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8A430E93-F5FF-427E-9446-1D92D53C318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133304" y="4452485"/>
            <a:ext cx="6096000" cy="97690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04B754-14B3-4798-A006-1928D589586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89520" y="1054100"/>
            <a:ext cx="4804959" cy="4749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1B1D6C-E55D-4738-ADAE-6DC40C6289EF}"/>
              </a:ext>
            </a:extLst>
          </p:cNvPr>
          <p:cNvSpPr txBox="1"/>
          <p:nvPr/>
        </p:nvSpPr>
        <p:spPr>
          <a:xfrm>
            <a:off x="1125848" y="974610"/>
            <a:ext cx="866367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anose="030F0702030302020204" pitchFamily="66" charset="0"/>
              </a:rPr>
              <a:t>Ссылка на репозиторий </a:t>
            </a:r>
            <a:r>
              <a:rPr lang="en-US" sz="6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anose="030F0702030302020204" pitchFamily="66" charset="0"/>
              </a:rPr>
              <a:t>Git</a:t>
            </a:r>
          </a:p>
          <a:p>
            <a:r>
              <a:rPr lang="en-US" sz="3200" dirty="0">
                <a:solidFill>
                  <a:srgbClr val="DD1944"/>
                </a:solidFill>
                <a:latin typeface="Comic Sans MS" panose="030F0702030302020204" pitchFamily="66" charset="0"/>
              </a:rPr>
              <a:t>https://github.com/mitm6132/Huston-_u_nas_problemi</a:t>
            </a:r>
            <a:endParaRPr lang="ru-RU" sz="3200" dirty="0">
              <a:solidFill>
                <a:srgbClr val="DD1944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459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38B32F35-C663-40A0-BDD1-02CE3FEDB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0"/>
            <a:ext cx="12192000" cy="7023177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28CE8DC-4703-4717-A3C0-DA468FE79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F91F75-53B8-417E-8486-8A104F3742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8957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404E86-15EB-498E-9993-C44ABC6AE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0"/>
            <a:ext cx="12192000" cy="6858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CB3C5F5-FF0E-46FB-B38E-B7C2166CEC3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BF3C839-3A41-4120-B7BA-026D53A3E7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731774" y="2073527"/>
            <a:ext cx="7962900" cy="88582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7AA590B-A298-4447-A248-590359AF5C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234684" y="2922614"/>
            <a:ext cx="4030877" cy="44841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30091B4-7F63-49AA-950D-6620A72D4B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9234684" y="3695829"/>
            <a:ext cx="6578600" cy="183685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6844D2B-7272-4D61-B815-C36BC25343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9234684" y="4596166"/>
            <a:ext cx="5788870" cy="117364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04B754-14B3-4798-A006-1928D58958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-3929850" y="0"/>
            <a:ext cx="6937641" cy="68580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C4F47AE1-CFB2-4730-8415-42FCB4DCDD2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0" y="6895146"/>
            <a:ext cx="12192000" cy="702076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4AB09AF-333F-4EC0-BBBB-276C68F438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90153" y="7772089"/>
            <a:ext cx="12192000" cy="6034562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F833274D-FD0F-4005-93A8-CE203F95164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54071" y="8486357"/>
            <a:ext cx="10037482" cy="203501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1470382-B36E-4304-8414-47F972035A5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3200" y="7581482"/>
            <a:ext cx="8458200" cy="9048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3D79E0-04EC-4345-9D1A-DD5B663D1601}"/>
              </a:ext>
            </a:extLst>
          </p:cNvPr>
          <p:cNvSpPr txBox="1"/>
          <p:nvPr/>
        </p:nvSpPr>
        <p:spPr>
          <a:xfrm>
            <a:off x="3145840" y="0"/>
            <a:ext cx="59102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anose="030F0702030302020204" pitchFamily="66" charset="0"/>
              </a:rPr>
              <a:t>Инструкция по запуску кода</a:t>
            </a:r>
            <a:endParaRPr lang="ru-RU" sz="2400" dirty="0">
              <a:solidFill>
                <a:srgbClr val="DD1944"/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8D0478-EB05-4B68-B1C1-35D6DA96ABC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839" y="775382"/>
            <a:ext cx="7929143" cy="528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874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C451CDE-0998-4F28-9731-ED2D624DE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934201"/>
            <a:ext cx="12192000" cy="789577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C20A533-4745-4F3A-B982-F0CBDEA4F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200"/>
            <a:ext cx="12192000" cy="7023177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675DDEA5-C44D-4ABF-9F2D-FB0F41E5D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934200"/>
            <a:ext cx="12192000" cy="68580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30C65C2-74D7-4857-96B4-B63AE03AE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666" y="-4979735"/>
            <a:ext cx="8458200" cy="904875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AAEF7C38-1331-4F0D-ABBC-75D6BF5091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5535" y="-4074860"/>
            <a:ext cx="4252180" cy="451134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AD43BBF2-05F8-4261-AD00-D8A758FB4F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2618" y="-3386673"/>
            <a:ext cx="5128932" cy="1166655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E7175403-FC85-40DD-95FD-D9CACC2F5A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2618" y="-2378421"/>
            <a:ext cx="6096000" cy="976909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C699E910-0D02-45EF-AC5F-E7CD55FAEBD4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252549" y="-15943"/>
            <a:ext cx="12192000" cy="68580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02A3F781-8FDA-4BF1-991B-D65B1A330A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2192000" y="-15943"/>
            <a:ext cx="12192000" cy="68580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61E465F0-4B03-4E67-B4DE-C66CFFFD4857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-12192000" y="-15943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04B754-14B3-4798-A006-1928D58958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-3929850" y="0"/>
            <a:ext cx="6937641" cy="6858000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587EC775-9F6C-4960-9C9C-65867903E1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8316882" y="-1958680"/>
            <a:ext cx="18364200" cy="10329863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54A5A5DE-24D6-43D4-8D64-69C7F9A246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1721828" y="2668864"/>
            <a:ext cx="4291588" cy="454802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B285D910-E1BB-4348-83F7-60EF8D5EAF3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1555905" y="3476762"/>
            <a:ext cx="7231305" cy="19230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69C502-5A13-452C-B3E3-9732FFE90CDB}"/>
              </a:ext>
            </a:extLst>
          </p:cNvPr>
          <p:cNvSpPr txBox="1"/>
          <p:nvPr/>
        </p:nvSpPr>
        <p:spPr>
          <a:xfrm>
            <a:off x="1744214" y="127743"/>
            <a:ext cx="10504796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Рефлексия по трем прошедшим дням</a:t>
            </a:r>
            <a:br>
              <a:rPr lang="ru-RU" dirty="0"/>
            </a:br>
            <a:r>
              <a:rPr lang="ru-RU" sz="2000" b="0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mic Sans MS" panose="030F0702030302020204" pitchFamily="66" charset="0"/>
              </a:rPr>
              <a:t>День 1 – Обнаружение объектов</a:t>
            </a:r>
          </a:p>
          <a:p>
            <a:r>
              <a:rPr lang="ru-RU" sz="20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Что получилось: Устойчивая навигация по </a:t>
            </a:r>
            <a:r>
              <a:rPr lang="ru-RU" sz="2000" b="0" i="0" dirty="0" err="1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ArUco</a:t>
            </a:r>
            <a:r>
              <a:rPr lang="ru-RU" sz="20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-маркерам, точное позиционирование.</a:t>
            </a:r>
          </a:p>
          <a:p>
            <a:r>
              <a:rPr lang="ru-RU" sz="20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Проблемы: Сложность адаптации детектора под освещение – решено настройкой порога и использованием /</a:t>
            </a:r>
            <a:r>
              <a:rPr lang="ru-RU" sz="2000" b="0" i="0" dirty="0" err="1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front_camera</a:t>
            </a:r>
            <a:r>
              <a:rPr lang="ru-RU" sz="20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/</a:t>
            </a:r>
            <a:r>
              <a:rPr lang="ru-RU" sz="2000" b="0" i="0" dirty="0" err="1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image_raw_throttled</a:t>
            </a:r>
            <a:r>
              <a:rPr lang="ru-RU" sz="20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.</a:t>
            </a:r>
          </a:p>
          <a:p>
            <a:endParaRPr lang="ru-RU" sz="2000" dirty="0">
              <a:solidFill>
                <a:schemeClr val="accent1">
                  <a:lumMod val="40000"/>
                  <a:lumOff val="60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ru-RU" sz="2000" b="0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mic Sans MS" panose="030F0702030302020204" pitchFamily="66" charset="0"/>
              </a:rPr>
              <a:t>День 2 – Сопровождение цели</a:t>
            </a:r>
          </a:p>
          <a:p>
            <a:r>
              <a:rPr lang="ru-RU" sz="20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Что получилось: Успешный захват человека и удержание в течение 120 с </a:t>
            </a:r>
            <a:r>
              <a:rPr lang="ru-RU" sz="2000" b="0" i="0" dirty="0" err="1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с</a:t>
            </a:r>
            <a:r>
              <a:rPr lang="ru-RU" sz="20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lang="ru-RU" sz="2000" b="0" i="0" dirty="0" err="1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IoU</a:t>
            </a:r>
            <a:r>
              <a:rPr lang="ru-RU" sz="20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-трекингом.</a:t>
            </a:r>
          </a:p>
          <a:p>
            <a:r>
              <a:rPr lang="ru-RU" sz="20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Проблемы: Чтение информации с топика</a:t>
            </a:r>
          </a:p>
          <a:p>
            <a:endParaRPr lang="ru-RU" sz="2000" b="0" i="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omic Sans MS" panose="030F0702030302020204" pitchFamily="66" charset="0"/>
            </a:endParaRPr>
          </a:p>
          <a:p>
            <a:r>
              <a:rPr lang="ru-RU" sz="2000" b="0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mic Sans MS" panose="030F0702030302020204" pitchFamily="66" charset="0"/>
              </a:rPr>
              <a:t>День 3 – Интеграция и финал</a:t>
            </a:r>
          </a:p>
          <a:p>
            <a:r>
              <a:rPr lang="ru-RU" sz="20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Что получилось: Упрощённый код, </a:t>
            </a:r>
          </a:p>
          <a:p>
            <a:r>
              <a:rPr lang="ru-RU" sz="20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Проблемы: Задержки при обработке кадров</a:t>
            </a:r>
            <a:r>
              <a:rPr lang="en-US" sz="20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,</a:t>
            </a:r>
            <a:r>
              <a:rPr lang="ru-RU" sz="2000" b="0" i="0" dirty="0">
                <a:solidFill>
                  <a:srgbClr val="DD1944"/>
                </a:solidFill>
                <a:effectLst/>
                <a:latin typeface="Comic Sans MS" panose="030F0702030302020204" pitchFamily="66" charset="0"/>
              </a:rPr>
              <a:t> подобрать параметры</a:t>
            </a:r>
            <a:r>
              <a:rPr lang="ru-RU" sz="2000" b="0" i="0" dirty="0">
                <a:solidFill>
                  <a:srgbClr val="DD1944"/>
                </a:solidFill>
                <a:effectLst/>
                <a:latin typeface="quote-cjk-patch"/>
              </a:rPr>
              <a:t>.</a:t>
            </a:r>
            <a:endParaRPr lang="ru-RU" sz="2000" dirty="0">
              <a:solidFill>
                <a:srgbClr val="DD19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745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461</Words>
  <Application>Microsoft Office PowerPoint</Application>
  <PresentationFormat>Широкоэкранный</PresentationFormat>
  <Paragraphs>50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quote-cjk-patch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Финал НТО 2025/2026</dc:title>
  <dc:creator>Богдан Игошин</dc:creator>
  <cp:lastModifiedBy>Богдан Игошин</cp:lastModifiedBy>
  <cp:revision>26</cp:revision>
  <dcterms:created xsi:type="dcterms:W3CDTF">2026-03-22T18:59:37Z</dcterms:created>
  <dcterms:modified xsi:type="dcterms:W3CDTF">2026-03-25T13:53:00Z</dcterms:modified>
</cp:coreProperties>
</file>